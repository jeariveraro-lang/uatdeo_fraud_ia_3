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32404050" cy="43205400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200" kern="1200">
        <a:solidFill>
          <a:srgbClr val="000000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200" kern="1200">
        <a:solidFill>
          <a:srgbClr val="000000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200" kern="1200">
        <a:solidFill>
          <a:srgbClr val="000000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200" kern="1200">
        <a:solidFill>
          <a:srgbClr val="000000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200" kern="1200">
        <a:solidFill>
          <a:srgbClr val="000000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rgbClr val="000000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rgbClr val="000000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rgbClr val="000000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rgbClr val="000000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6">
          <p15:clr>
            <a:srgbClr val="A4A3A4"/>
          </p15:clr>
        </p15:guide>
        <p15:guide id="2" pos="870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9204"/>
    <a:srgbClr val="FFCCCC"/>
    <a:srgbClr val="993300"/>
    <a:srgbClr val="FFFFCC"/>
    <a:srgbClr val="FF3399"/>
    <a:srgbClr val="FF0066"/>
    <a:srgbClr val="FF66CC"/>
    <a:srgbClr val="C82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6955" autoAdjust="0"/>
  </p:normalViewPr>
  <p:slideViewPr>
    <p:cSldViewPr>
      <p:cViewPr varScale="1">
        <p:scale>
          <a:sx n="18" d="100"/>
          <a:sy n="18" d="100"/>
        </p:scale>
        <p:origin x="3690" y="78"/>
      </p:cViewPr>
      <p:guideLst>
        <p:guide orient="horz" pos="4536"/>
        <p:guide pos="8709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ABFE5F-B9F4-4C8B-9BF8-1C3CE38F2E99}" type="doc">
      <dgm:prSet loTypeId="urn:microsoft.com/office/officeart/2008/layout/AlternatingHexagons" loCatId="list" qsTypeId="urn:microsoft.com/office/officeart/2005/8/quickstyle/simple4" qsCatId="simple" csTypeId="urn:microsoft.com/office/officeart/2005/8/colors/accent2_3" csCatId="accent2" phldr="0"/>
      <dgm:spPr/>
      <dgm:t>
        <a:bodyPr/>
        <a:lstStyle/>
        <a:p>
          <a:endParaRPr lang="es-CO"/>
        </a:p>
      </dgm:t>
    </dgm:pt>
    <dgm:pt modelId="{1FA7175B-2BC7-4F57-82A3-370146906FE7}">
      <dgm:prSet phldrT="[Texto]" phldr="1"/>
      <dgm:spPr/>
      <dgm:t>
        <a:bodyPr/>
        <a:lstStyle/>
        <a:p>
          <a:endParaRPr lang="es-CO"/>
        </a:p>
      </dgm:t>
    </dgm:pt>
    <dgm:pt modelId="{B548D93D-2531-452B-89D3-50636155C345}" type="parTrans" cxnId="{46DDFF45-8AA5-4049-9615-8FFDE150A4A5}">
      <dgm:prSet/>
      <dgm:spPr/>
      <dgm:t>
        <a:bodyPr/>
        <a:lstStyle/>
        <a:p>
          <a:endParaRPr lang="es-CO"/>
        </a:p>
      </dgm:t>
    </dgm:pt>
    <dgm:pt modelId="{78447488-7080-42B9-B71F-7BC0478322EA}" type="sibTrans" cxnId="{46DDFF45-8AA5-4049-9615-8FFDE150A4A5}">
      <dgm:prSet/>
      <dgm:spPr/>
      <dgm:t>
        <a:bodyPr/>
        <a:lstStyle/>
        <a:p>
          <a:endParaRPr lang="es-CO"/>
        </a:p>
      </dgm:t>
    </dgm:pt>
    <dgm:pt modelId="{B07D0A0D-D2EB-4092-AB8E-01421D1B2079}">
      <dgm:prSet phldrT="[Texto]" phldr="1"/>
      <dgm:spPr/>
      <dgm:t>
        <a:bodyPr/>
        <a:lstStyle/>
        <a:p>
          <a:endParaRPr lang="es-CO"/>
        </a:p>
      </dgm:t>
    </dgm:pt>
    <dgm:pt modelId="{5EE14FA0-AD47-4C6C-8852-83F9C36246AB}" type="parTrans" cxnId="{FE939D07-163A-4BB8-804F-D1B84777BDBE}">
      <dgm:prSet/>
      <dgm:spPr/>
      <dgm:t>
        <a:bodyPr/>
        <a:lstStyle/>
        <a:p>
          <a:endParaRPr lang="es-CO"/>
        </a:p>
      </dgm:t>
    </dgm:pt>
    <dgm:pt modelId="{E49AEA76-CDC6-4882-B034-07C49CB4676B}" type="sibTrans" cxnId="{FE939D07-163A-4BB8-804F-D1B84777BDBE}">
      <dgm:prSet/>
      <dgm:spPr/>
      <dgm:t>
        <a:bodyPr/>
        <a:lstStyle/>
        <a:p>
          <a:endParaRPr lang="es-CO"/>
        </a:p>
      </dgm:t>
    </dgm:pt>
    <dgm:pt modelId="{AA837799-B60D-4A1C-AF26-F25AEF6F16BA}">
      <dgm:prSet phldrT="[Texto]" phldr="1"/>
      <dgm:spPr/>
      <dgm:t>
        <a:bodyPr/>
        <a:lstStyle/>
        <a:p>
          <a:endParaRPr lang="es-CO"/>
        </a:p>
      </dgm:t>
    </dgm:pt>
    <dgm:pt modelId="{06C49D73-886D-4909-A3DD-31F7F66A1691}" type="parTrans" cxnId="{C67579DC-2734-4A10-858B-F74C9805319D}">
      <dgm:prSet/>
      <dgm:spPr/>
      <dgm:t>
        <a:bodyPr/>
        <a:lstStyle/>
        <a:p>
          <a:endParaRPr lang="es-CO"/>
        </a:p>
      </dgm:t>
    </dgm:pt>
    <dgm:pt modelId="{5B9039B3-4392-4FD7-94E5-108A60A71FF8}" type="sibTrans" cxnId="{C67579DC-2734-4A10-858B-F74C9805319D}">
      <dgm:prSet/>
      <dgm:spPr/>
      <dgm:t>
        <a:bodyPr/>
        <a:lstStyle/>
        <a:p>
          <a:endParaRPr lang="es-CO"/>
        </a:p>
      </dgm:t>
    </dgm:pt>
    <dgm:pt modelId="{C77EC1D5-BE9D-4917-A74D-570BC8F81CFF}">
      <dgm:prSet phldrT="[Texto]" phldr="1"/>
      <dgm:spPr/>
      <dgm:t>
        <a:bodyPr/>
        <a:lstStyle/>
        <a:p>
          <a:endParaRPr lang="es-CO"/>
        </a:p>
      </dgm:t>
    </dgm:pt>
    <dgm:pt modelId="{1757BBCD-66CA-4504-B190-C40C59E4B9A0}" type="parTrans" cxnId="{CEBAFBBD-B093-4D43-A401-BE9D5E123115}">
      <dgm:prSet/>
      <dgm:spPr/>
      <dgm:t>
        <a:bodyPr/>
        <a:lstStyle/>
        <a:p>
          <a:endParaRPr lang="es-CO"/>
        </a:p>
      </dgm:t>
    </dgm:pt>
    <dgm:pt modelId="{402F316E-3A70-4B42-B99E-4DCA1A896317}" type="sibTrans" cxnId="{CEBAFBBD-B093-4D43-A401-BE9D5E123115}">
      <dgm:prSet/>
      <dgm:spPr/>
      <dgm:t>
        <a:bodyPr/>
        <a:lstStyle/>
        <a:p>
          <a:endParaRPr lang="es-CO"/>
        </a:p>
      </dgm:t>
    </dgm:pt>
    <dgm:pt modelId="{2C0B2701-1221-4618-85DB-4E3EBD8B5E5C}">
      <dgm:prSet phldrT="[Texto]" phldr="1"/>
      <dgm:spPr/>
      <dgm:t>
        <a:bodyPr/>
        <a:lstStyle/>
        <a:p>
          <a:endParaRPr lang="es-CO"/>
        </a:p>
      </dgm:t>
    </dgm:pt>
    <dgm:pt modelId="{6F74914E-76FA-418D-A7CC-7CB8CC456F8B}" type="parTrans" cxnId="{DA54C74F-5497-4731-9DCA-618AF918DF25}">
      <dgm:prSet/>
      <dgm:spPr/>
      <dgm:t>
        <a:bodyPr/>
        <a:lstStyle/>
        <a:p>
          <a:endParaRPr lang="es-CO"/>
        </a:p>
      </dgm:t>
    </dgm:pt>
    <dgm:pt modelId="{EC78EABE-0A68-4840-BDA5-6E1B8E834A9A}" type="sibTrans" cxnId="{DA54C74F-5497-4731-9DCA-618AF918DF25}">
      <dgm:prSet/>
      <dgm:spPr/>
      <dgm:t>
        <a:bodyPr/>
        <a:lstStyle/>
        <a:p>
          <a:endParaRPr lang="es-CO"/>
        </a:p>
      </dgm:t>
    </dgm:pt>
    <dgm:pt modelId="{916DD612-69C9-4CE2-A475-17A3E56C26ED}">
      <dgm:prSet phldrT="[Texto]" phldr="1"/>
      <dgm:spPr/>
      <dgm:t>
        <a:bodyPr/>
        <a:lstStyle/>
        <a:p>
          <a:endParaRPr lang="es-CO"/>
        </a:p>
      </dgm:t>
    </dgm:pt>
    <dgm:pt modelId="{40FD15BE-A901-4A74-8189-D89B752801FB}" type="parTrans" cxnId="{276995CD-E2BA-4057-9FBC-C4652601E692}">
      <dgm:prSet/>
      <dgm:spPr/>
      <dgm:t>
        <a:bodyPr/>
        <a:lstStyle/>
        <a:p>
          <a:endParaRPr lang="es-CO"/>
        </a:p>
      </dgm:t>
    </dgm:pt>
    <dgm:pt modelId="{D366A1DE-1CEA-44B8-9C96-A74BEBC05BAD}" type="sibTrans" cxnId="{276995CD-E2BA-4057-9FBC-C4652601E692}">
      <dgm:prSet/>
      <dgm:spPr/>
      <dgm:t>
        <a:bodyPr/>
        <a:lstStyle/>
        <a:p>
          <a:endParaRPr lang="es-CO"/>
        </a:p>
      </dgm:t>
    </dgm:pt>
    <dgm:pt modelId="{7F281A65-FC8C-4DFA-B660-E46B6665CE85}" type="pres">
      <dgm:prSet presAssocID="{BCABFE5F-B9F4-4C8B-9BF8-1C3CE38F2E99}" presName="Name0" presStyleCnt="0">
        <dgm:presLayoutVars>
          <dgm:chMax/>
          <dgm:chPref/>
          <dgm:dir/>
          <dgm:animLvl val="lvl"/>
        </dgm:presLayoutVars>
      </dgm:prSet>
      <dgm:spPr/>
    </dgm:pt>
    <dgm:pt modelId="{7AC44F70-AFCD-40B6-9D32-9B0BA6DCDDDD}" type="pres">
      <dgm:prSet presAssocID="{1FA7175B-2BC7-4F57-82A3-370146906FE7}" presName="composite" presStyleCnt="0"/>
      <dgm:spPr/>
    </dgm:pt>
    <dgm:pt modelId="{C035F165-7DA4-408A-9E05-AB891735F816}" type="pres">
      <dgm:prSet presAssocID="{1FA7175B-2BC7-4F57-82A3-370146906FE7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AC9C675E-D8D3-4FB8-BB9D-878C2C8C937D}" type="pres">
      <dgm:prSet presAssocID="{1FA7175B-2BC7-4F57-82A3-370146906FE7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B38C2537-2B69-4C54-B4AD-4BBA92272E26}" type="pres">
      <dgm:prSet presAssocID="{1FA7175B-2BC7-4F57-82A3-370146906FE7}" presName="BalanceSpacing" presStyleCnt="0"/>
      <dgm:spPr/>
    </dgm:pt>
    <dgm:pt modelId="{4F8B626D-676C-4E10-B4B9-B34BF2E978D2}" type="pres">
      <dgm:prSet presAssocID="{1FA7175B-2BC7-4F57-82A3-370146906FE7}" presName="BalanceSpacing1" presStyleCnt="0"/>
      <dgm:spPr/>
    </dgm:pt>
    <dgm:pt modelId="{0BBBA992-7553-49BD-A6E5-5781435BDDD4}" type="pres">
      <dgm:prSet presAssocID="{78447488-7080-42B9-B71F-7BC0478322EA}" presName="Accent1Text" presStyleLbl="node1" presStyleIdx="1" presStyleCnt="6"/>
      <dgm:spPr/>
    </dgm:pt>
    <dgm:pt modelId="{D8368729-B245-427F-BB45-1129066B59FB}" type="pres">
      <dgm:prSet presAssocID="{78447488-7080-42B9-B71F-7BC0478322EA}" presName="spaceBetweenRectangles" presStyleCnt="0"/>
      <dgm:spPr/>
    </dgm:pt>
    <dgm:pt modelId="{A72E98C4-C0E4-4085-A568-4BB0AA4C3260}" type="pres">
      <dgm:prSet presAssocID="{AA837799-B60D-4A1C-AF26-F25AEF6F16BA}" presName="composite" presStyleCnt="0"/>
      <dgm:spPr/>
    </dgm:pt>
    <dgm:pt modelId="{5C35AA28-B134-41FA-823F-97D28C08EEF0}" type="pres">
      <dgm:prSet presAssocID="{AA837799-B60D-4A1C-AF26-F25AEF6F16BA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916B0765-079C-428B-B6D7-A20DB8E4A6E3}" type="pres">
      <dgm:prSet presAssocID="{AA837799-B60D-4A1C-AF26-F25AEF6F16BA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6C59349C-B624-4EA2-B5EA-D9E73A98154D}" type="pres">
      <dgm:prSet presAssocID="{AA837799-B60D-4A1C-AF26-F25AEF6F16BA}" presName="BalanceSpacing" presStyleCnt="0"/>
      <dgm:spPr/>
    </dgm:pt>
    <dgm:pt modelId="{447C4120-7A38-4EE5-9FCC-1D4525390E2C}" type="pres">
      <dgm:prSet presAssocID="{AA837799-B60D-4A1C-AF26-F25AEF6F16BA}" presName="BalanceSpacing1" presStyleCnt="0"/>
      <dgm:spPr/>
    </dgm:pt>
    <dgm:pt modelId="{A42A57F1-FD70-46F9-97E8-8CFB9B7AAAE5}" type="pres">
      <dgm:prSet presAssocID="{5B9039B3-4392-4FD7-94E5-108A60A71FF8}" presName="Accent1Text" presStyleLbl="node1" presStyleIdx="3" presStyleCnt="6"/>
      <dgm:spPr/>
    </dgm:pt>
    <dgm:pt modelId="{1A81138A-EEB8-40D5-B6F0-B23B1BFB7C64}" type="pres">
      <dgm:prSet presAssocID="{5B9039B3-4392-4FD7-94E5-108A60A71FF8}" presName="spaceBetweenRectangles" presStyleCnt="0"/>
      <dgm:spPr/>
    </dgm:pt>
    <dgm:pt modelId="{42A57295-EC89-46DF-9B3B-2874B5702B04}" type="pres">
      <dgm:prSet presAssocID="{2C0B2701-1221-4618-85DB-4E3EBD8B5E5C}" presName="composite" presStyleCnt="0"/>
      <dgm:spPr/>
    </dgm:pt>
    <dgm:pt modelId="{CA422A83-CFF2-44D6-86F7-4B4A311536AC}" type="pres">
      <dgm:prSet presAssocID="{2C0B2701-1221-4618-85DB-4E3EBD8B5E5C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2234FDDB-5740-44B6-BA52-D41104FA2F9B}" type="pres">
      <dgm:prSet presAssocID="{2C0B2701-1221-4618-85DB-4E3EBD8B5E5C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A501890F-0B7E-41AE-B6F9-98F7FD06EAC5}" type="pres">
      <dgm:prSet presAssocID="{2C0B2701-1221-4618-85DB-4E3EBD8B5E5C}" presName="BalanceSpacing" presStyleCnt="0"/>
      <dgm:spPr/>
    </dgm:pt>
    <dgm:pt modelId="{B721CCD3-B12E-44EF-A5E4-7D8CA2885820}" type="pres">
      <dgm:prSet presAssocID="{2C0B2701-1221-4618-85DB-4E3EBD8B5E5C}" presName="BalanceSpacing1" presStyleCnt="0"/>
      <dgm:spPr/>
    </dgm:pt>
    <dgm:pt modelId="{B8AC8C1A-BDB3-4168-981F-19B0BF1BF0E9}" type="pres">
      <dgm:prSet presAssocID="{EC78EABE-0A68-4840-BDA5-6E1B8E834A9A}" presName="Accent1Text" presStyleLbl="node1" presStyleIdx="5" presStyleCnt="6"/>
      <dgm:spPr/>
    </dgm:pt>
  </dgm:ptLst>
  <dgm:cxnLst>
    <dgm:cxn modelId="{FE939D07-163A-4BB8-804F-D1B84777BDBE}" srcId="{1FA7175B-2BC7-4F57-82A3-370146906FE7}" destId="{B07D0A0D-D2EB-4092-AB8E-01421D1B2079}" srcOrd="0" destOrd="0" parTransId="{5EE14FA0-AD47-4C6C-8852-83F9C36246AB}" sibTransId="{E49AEA76-CDC6-4882-B034-07C49CB4676B}"/>
    <dgm:cxn modelId="{A1CF4E1C-CCCC-48CB-A863-A8244900660C}" type="presOf" srcId="{1FA7175B-2BC7-4F57-82A3-370146906FE7}" destId="{C035F165-7DA4-408A-9E05-AB891735F816}" srcOrd="0" destOrd="0" presId="urn:microsoft.com/office/officeart/2008/layout/AlternatingHexagons"/>
    <dgm:cxn modelId="{A2D7CD1F-C8FF-49E7-A017-EC68C1B33722}" type="presOf" srcId="{C77EC1D5-BE9D-4917-A74D-570BC8F81CFF}" destId="{916B0765-079C-428B-B6D7-A20DB8E4A6E3}" srcOrd="0" destOrd="0" presId="urn:microsoft.com/office/officeart/2008/layout/AlternatingHexagons"/>
    <dgm:cxn modelId="{46DDFF45-8AA5-4049-9615-8FFDE150A4A5}" srcId="{BCABFE5F-B9F4-4C8B-9BF8-1C3CE38F2E99}" destId="{1FA7175B-2BC7-4F57-82A3-370146906FE7}" srcOrd="0" destOrd="0" parTransId="{B548D93D-2531-452B-89D3-50636155C345}" sibTransId="{78447488-7080-42B9-B71F-7BC0478322EA}"/>
    <dgm:cxn modelId="{DA54C74F-5497-4731-9DCA-618AF918DF25}" srcId="{BCABFE5F-B9F4-4C8B-9BF8-1C3CE38F2E99}" destId="{2C0B2701-1221-4618-85DB-4E3EBD8B5E5C}" srcOrd="2" destOrd="0" parTransId="{6F74914E-76FA-418D-A7CC-7CB8CC456F8B}" sibTransId="{EC78EABE-0A68-4840-BDA5-6E1B8E834A9A}"/>
    <dgm:cxn modelId="{4CB89C57-0D4F-48E9-ADD8-AFF08CC8F0D2}" type="presOf" srcId="{916DD612-69C9-4CE2-A475-17A3E56C26ED}" destId="{2234FDDB-5740-44B6-BA52-D41104FA2F9B}" srcOrd="0" destOrd="0" presId="urn:microsoft.com/office/officeart/2008/layout/AlternatingHexagons"/>
    <dgm:cxn modelId="{8D565387-C9AE-49BA-A6B1-9B4DAF30F852}" type="presOf" srcId="{AA837799-B60D-4A1C-AF26-F25AEF6F16BA}" destId="{5C35AA28-B134-41FA-823F-97D28C08EEF0}" srcOrd="0" destOrd="0" presId="urn:microsoft.com/office/officeart/2008/layout/AlternatingHexagons"/>
    <dgm:cxn modelId="{B2E54689-4722-48AA-A004-484EFFD8AFFE}" type="presOf" srcId="{BCABFE5F-B9F4-4C8B-9BF8-1C3CE38F2E99}" destId="{7F281A65-FC8C-4DFA-B660-E46B6665CE85}" srcOrd="0" destOrd="0" presId="urn:microsoft.com/office/officeart/2008/layout/AlternatingHexagons"/>
    <dgm:cxn modelId="{A8CCE5A1-50A7-408D-9150-529C53D70298}" type="presOf" srcId="{2C0B2701-1221-4618-85DB-4E3EBD8B5E5C}" destId="{CA422A83-CFF2-44D6-86F7-4B4A311536AC}" srcOrd="0" destOrd="0" presId="urn:microsoft.com/office/officeart/2008/layout/AlternatingHexagons"/>
    <dgm:cxn modelId="{5089E7BA-C7C6-4DBF-82A7-66B104424917}" type="presOf" srcId="{EC78EABE-0A68-4840-BDA5-6E1B8E834A9A}" destId="{B8AC8C1A-BDB3-4168-981F-19B0BF1BF0E9}" srcOrd="0" destOrd="0" presId="urn:microsoft.com/office/officeart/2008/layout/AlternatingHexagons"/>
    <dgm:cxn modelId="{CEBAFBBD-B093-4D43-A401-BE9D5E123115}" srcId="{AA837799-B60D-4A1C-AF26-F25AEF6F16BA}" destId="{C77EC1D5-BE9D-4917-A74D-570BC8F81CFF}" srcOrd="0" destOrd="0" parTransId="{1757BBCD-66CA-4504-B190-C40C59E4B9A0}" sibTransId="{402F316E-3A70-4B42-B99E-4DCA1A896317}"/>
    <dgm:cxn modelId="{276995CD-E2BA-4057-9FBC-C4652601E692}" srcId="{2C0B2701-1221-4618-85DB-4E3EBD8B5E5C}" destId="{916DD612-69C9-4CE2-A475-17A3E56C26ED}" srcOrd="0" destOrd="0" parTransId="{40FD15BE-A901-4A74-8189-D89B752801FB}" sibTransId="{D366A1DE-1CEA-44B8-9C96-A74BEBC05BAD}"/>
    <dgm:cxn modelId="{C67579DC-2734-4A10-858B-F74C9805319D}" srcId="{BCABFE5F-B9F4-4C8B-9BF8-1C3CE38F2E99}" destId="{AA837799-B60D-4A1C-AF26-F25AEF6F16BA}" srcOrd="1" destOrd="0" parTransId="{06C49D73-886D-4909-A3DD-31F7F66A1691}" sibTransId="{5B9039B3-4392-4FD7-94E5-108A60A71FF8}"/>
    <dgm:cxn modelId="{0172ECE6-60BA-45A8-BAC4-7A09799E798E}" type="presOf" srcId="{78447488-7080-42B9-B71F-7BC0478322EA}" destId="{0BBBA992-7553-49BD-A6E5-5781435BDDD4}" srcOrd="0" destOrd="0" presId="urn:microsoft.com/office/officeart/2008/layout/AlternatingHexagons"/>
    <dgm:cxn modelId="{06662BEC-D951-46DA-91D6-330B0096F2E5}" type="presOf" srcId="{B07D0A0D-D2EB-4092-AB8E-01421D1B2079}" destId="{AC9C675E-D8D3-4FB8-BB9D-878C2C8C937D}" srcOrd="0" destOrd="0" presId="urn:microsoft.com/office/officeart/2008/layout/AlternatingHexagons"/>
    <dgm:cxn modelId="{8CDA03F1-2CC0-43C7-9B4B-356572733D53}" type="presOf" srcId="{5B9039B3-4392-4FD7-94E5-108A60A71FF8}" destId="{A42A57F1-FD70-46F9-97E8-8CFB9B7AAAE5}" srcOrd="0" destOrd="0" presId="urn:microsoft.com/office/officeart/2008/layout/AlternatingHexagons"/>
    <dgm:cxn modelId="{0A63615B-EF01-470A-97EF-4F3A15005749}" type="presParOf" srcId="{7F281A65-FC8C-4DFA-B660-E46B6665CE85}" destId="{7AC44F70-AFCD-40B6-9D32-9B0BA6DCDDDD}" srcOrd="0" destOrd="0" presId="urn:microsoft.com/office/officeart/2008/layout/AlternatingHexagons"/>
    <dgm:cxn modelId="{8E053FFA-2D04-4EA9-B9C8-455383345305}" type="presParOf" srcId="{7AC44F70-AFCD-40B6-9D32-9B0BA6DCDDDD}" destId="{C035F165-7DA4-408A-9E05-AB891735F816}" srcOrd="0" destOrd="0" presId="urn:microsoft.com/office/officeart/2008/layout/AlternatingHexagons"/>
    <dgm:cxn modelId="{1AC71014-191B-4726-A9D0-9AD2B29C9BBB}" type="presParOf" srcId="{7AC44F70-AFCD-40B6-9D32-9B0BA6DCDDDD}" destId="{AC9C675E-D8D3-4FB8-BB9D-878C2C8C937D}" srcOrd="1" destOrd="0" presId="urn:microsoft.com/office/officeart/2008/layout/AlternatingHexagons"/>
    <dgm:cxn modelId="{ACF1FBEB-F42B-4D71-B7DA-72D804523189}" type="presParOf" srcId="{7AC44F70-AFCD-40B6-9D32-9B0BA6DCDDDD}" destId="{B38C2537-2B69-4C54-B4AD-4BBA92272E26}" srcOrd="2" destOrd="0" presId="urn:microsoft.com/office/officeart/2008/layout/AlternatingHexagons"/>
    <dgm:cxn modelId="{FED09C28-B2D2-4682-8337-351BD3408278}" type="presParOf" srcId="{7AC44F70-AFCD-40B6-9D32-9B0BA6DCDDDD}" destId="{4F8B626D-676C-4E10-B4B9-B34BF2E978D2}" srcOrd="3" destOrd="0" presId="urn:microsoft.com/office/officeart/2008/layout/AlternatingHexagons"/>
    <dgm:cxn modelId="{0982CAD0-8CE0-48EF-B2BE-7D3CB15D35D8}" type="presParOf" srcId="{7AC44F70-AFCD-40B6-9D32-9B0BA6DCDDDD}" destId="{0BBBA992-7553-49BD-A6E5-5781435BDDD4}" srcOrd="4" destOrd="0" presId="urn:microsoft.com/office/officeart/2008/layout/AlternatingHexagons"/>
    <dgm:cxn modelId="{01221F79-5C15-48CE-A7A7-01C91F54F90D}" type="presParOf" srcId="{7F281A65-FC8C-4DFA-B660-E46B6665CE85}" destId="{D8368729-B245-427F-BB45-1129066B59FB}" srcOrd="1" destOrd="0" presId="urn:microsoft.com/office/officeart/2008/layout/AlternatingHexagons"/>
    <dgm:cxn modelId="{A587A707-AE0A-471E-939A-D0B73939BA4A}" type="presParOf" srcId="{7F281A65-FC8C-4DFA-B660-E46B6665CE85}" destId="{A72E98C4-C0E4-4085-A568-4BB0AA4C3260}" srcOrd="2" destOrd="0" presId="urn:microsoft.com/office/officeart/2008/layout/AlternatingHexagons"/>
    <dgm:cxn modelId="{90B1C07A-81A7-4E8D-895B-AB461467649A}" type="presParOf" srcId="{A72E98C4-C0E4-4085-A568-4BB0AA4C3260}" destId="{5C35AA28-B134-41FA-823F-97D28C08EEF0}" srcOrd="0" destOrd="0" presId="urn:microsoft.com/office/officeart/2008/layout/AlternatingHexagons"/>
    <dgm:cxn modelId="{6BCF848A-D4B4-41F0-8C84-F950FBEFD70F}" type="presParOf" srcId="{A72E98C4-C0E4-4085-A568-4BB0AA4C3260}" destId="{916B0765-079C-428B-B6D7-A20DB8E4A6E3}" srcOrd="1" destOrd="0" presId="urn:microsoft.com/office/officeart/2008/layout/AlternatingHexagons"/>
    <dgm:cxn modelId="{5550EBC5-514C-4739-BF06-7D9AFB39233C}" type="presParOf" srcId="{A72E98C4-C0E4-4085-A568-4BB0AA4C3260}" destId="{6C59349C-B624-4EA2-B5EA-D9E73A98154D}" srcOrd="2" destOrd="0" presId="urn:microsoft.com/office/officeart/2008/layout/AlternatingHexagons"/>
    <dgm:cxn modelId="{7592EADD-2612-414A-AB4A-A726279060C3}" type="presParOf" srcId="{A72E98C4-C0E4-4085-A568-4BB0AA4C3260}" destId="{447C4120-7A38-4EE5-9FCC-1D4525390E2C}" srcOrd="3" destOrd="0" presId="urn:microsoft.com/office/officeart/2008/layout/AlternatingHexagons"/>
    <dgm:cxn modelId="{C5CA0CD0-C8EF-4B91-843A-7D254CC72370}" type="presParOf" srcId="{A72E98C4-C0E4-4085-A568-4BB0AA4C3260}" destId="{A42A57F1-FD70-46F9-97E8-8CFB9B7AAAE5}" srcOrd="4" destOrd="0" presId="urn:microsoft.com/office/officeart/2008/layout/AlternatingHexagons"/>
    <dgm:cxn modelId="{3185CD2B-CDFA-4D1C-AB15-9174EBE43798}" type="presParOf" srcId="{7F281A65-FC8C-4DFA-B660-E46B6665CE85}" destId="{1A81138A-EEB8-40D5-B6F0-B23B1BFB7C64}" srcOrd="3" destOrd="0" presId="urn:microsoft.com/office/officeart/2008/layout/AlternatingHexagons"/>
    <dgm:cxn modelId="{2477E3BB-4BBD-43BA-B805-0F13ADC9BC74}" type="presParOf" srcId="{7F281A65-FC8C-4DFA-B660-E46B6665CE85}" destId="{42A57295-EC89-46DF-9B3B-2874B5702B04}" srcOrd="4" destOrd="0" presId="urn:microsoft.com/office/officeart/2008/layout/AlternatingHexagons"/>
    <dgm:cxn modelId="{A3C1373B-EF78-46D8-8E21-3BEA4C589FDC}" type="presParOf" srcId="{42A57295-EC89-46DF-9B3B-2874B5702B04}" destId="{CA422A83-CFF2-44D6-86F7-4B4A311536AC}" srcOrd="0" destOrd="0" presId="urn:microsoft.com/office/officeart/2008/layout/AlternatingHexagons"/>
    <dgm:cxn modelId="{1A7C774D-A720-4FC3-BFE0-9C6079A981F3}" type="presParOf" srcId="{42A57295-EC89-46DF-9B3B-2874B5702B04}" destId="{2234FDDB-5740-44B6-BA52-D41104FA2F9B}" srcOrd="1" destOrd="0" presId="urn:microsoft.com/office/officeart/2008/layout/AlternatingHexagons"/>
    <dgm:cxn modelId="{42CF0E5F-93DA-4F53-9BE0-0C32DF4EEB64}" type="presParOf" srcId="{42A57295-EC89-46DF-9B3B-2874B5702B04}" destId="{A501890F-0B7E-41AE-B6F9-98F7FD06EAC5}" srcOrd="2" destOrd="0" presId="urn:microsoft.com/office/officeart/2008/layout/AlternatingHexagons"/>
    <dgm:cxn modelId="{23D4CDE6-21B5-47BA-9970-07112FB7D244}" type="presParOf" srcId="{42A57295-EC89-46DF-9B3B-2874B5702B04}" destId="{B721CCD3-B12E-44EF-A5E4-7D8CA2885820}" srcOrd="3" destOrd="0" presId="urn:microsoft.com/office/officeart/2008/layout/AlternatingHexagons"/>
    <dgm:cxn modelId="{B34E47F0-534B-4167-8305-009D91A07003}" type="presParOf" srcId="{42A57295-EC89-46DF-9B3B-2874B5702B04}" destId="{B8AC8C1A-BDB3-4168-981F-19B0BF1BF0E9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5F165-7DA4-408A-9E05-AB891735F816}">
      <dsp:nvSpPr>
        <dsp:cNvPr id="0" name=""/>
        <dsp:cNvSpPr/>
      </dsp:nvSpPr>
      <dsp:spPr>
        <a:xfrm rot="5400000">
          <a:off x="5636950" y="208494"/>
          <a:ext cx="3171370" cy="275909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4200" kern="1200"/>
        </a:p>
      </dsp:txBody>
      <dsp:txXfrm rot="-5400000">
        <a:off x="6273048" y="496560"/>
        <a:ext cx="1899174" cy="2182960"/>
      </dsp:txXfrm>
    </dsp:sp>
    <dsp:sp modelId="{AC9C675E-D8D3-4FB8-BB9D-878C2C8C937D}">
      <dsp:nvSpPr>
        <dsp:cNvPr id="0" name=""/>
        <dsp:cNvSpPr/>
      </dsp:nvSpPr>
      <dsp:spPr>
        <a:xfrm>
          <a:off x="8685905" y="636629"/>
          <a:ext cx="3539249" cy="1902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3600" kern="1200"/>
        </a:p>
      </dsp:txBody>
      <dsp:txXfrm>
        <a:off x="8685905" y="636629"/>
        <a:ext cx="3539249" cy="1902822"/>
      </dsp:txXfrm>
    </dsp:sp>
    <dsp:sp modelId="{0BBBA992-7553-49BD-A6E5-5781435BDDD4}">
      <dsp:nvSpPr>
        <dsp:cNvPr id="0" name=""/>
        <dsp:cNvSpPr/>
      </dsp:nvSpPr>
      <dsp:spPr>
        <a:xfrm rot="5400000">
          <a:off x="2657130" y="208494"/>
          <a:ext cx="3171370" cy="275909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-2216"/>
                <a:lumOff val="569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-2216"/>
                <a:lumOff val="569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-2216"/>
                <a:lumOff val="569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3600" kern="1200"/>
        </a:p>
      </dsp:txBody>
      <dsp:txXfrm rot="-5400000">
        <a:off x="3293228" y="496560"/>
        <a:ext cx="1899174" cy="2182960"/>
      </dsp:txXfrm>
    </dsp:sp>
    <dsp:sp modelId="{5C35AA28-B134-41FA-823F-97D28C08EEF0}">
      <dsp:nvSpPr>
        <dsp:cNvPr id="0" name=""/>
        <dsp:cNvSpPr/>
      </dsp:nvSpPr>
      <dsp:spPr>
        <a:xfrm rot="5400000">
          <a:off x="4141332" y="2900353"/>
          <a:ext cx="3171370" cy="275909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-4432"/>
                <a:lumOff val="11380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-4432"/>
                <a:lumOff val="11380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-4432"/>
                <a:lumOff val="1138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4200" kern="1200"/>
        </a:p>
      </dsp:txBody>
      <dsp:txXfrm rot="-5400000">
        <a:off x="4777430" y="3188419"/>
        <a:ext cx="1899174" cy="2182960"/>
      </dsp:txXfrm>
    </dsp:sp>
    <dsp:sp modelId="{916B0765-079C-428B-B6D7-A20DB8E4A6E3}">
      <dsp:nvSpPr>
        <dsp:cNvPr id="0" name=""/>
        <dsp:cNvSpPr/>
      </dsp:nvSpPr>
      <dsp:spPr>
        <a:xfrm>
          <a:off x="808222" y="3328488"/>
          <a:ext cx="3425079" cy="1902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3600" kern="1200"/>
        </a:p>
      </dsp:txBody>
      <dsp:txXfrm>
        <a:off x="808222" y="3328488"/>
        <a:ext cx="3425079" cy="1902822"/>
      </dsp:txXfrm>
    </dsp:sp>
    <dsp:sp modelId="{A42A57F1-FD70-46F9-97E8-8CFB9B7AAAE5}">
      <dsp:nvSpPr>
        <dsp:cNvPr id="0" name=""/>
        <dsp:cNvSpPr/>
      </dsp:nvSpPr>
      <dsp:spPr>
        <a:xfrm rot="5400000">
          <a:off x="7121151" y="2900353"/>
          <a:ext cx="3171370" cy="275909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-6649"/>
                <a:lumOff val="17069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-6649"/>
                <a:lumOff val="17069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-6649"/>
                <a:lumOff val="1706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3600" kern="1200"/>
        </a:p>
      </dsp:txBody>
      <dsp:txXfrm rot="-5400000">
        <a:off x="7757249" y="3188419"/>
        <a:ext cx="1899174" cy="2182960"/>
      </dsp:txXfrm>
    </dsp:sp>
    <dsp:sp modelId="{CA422A83-CFF2-44D6-86F7-4B4A311536AC}">
      <dsp:nvSpPr>
        <dsp:cNvPr id="0" name=""/>
        <dsp:cNvSpPr/>
      </dsp:nvSpPr>
      <dsp:spPr>
        <a:xfrm rot="5400000">
          <a:off x="5636950" y="5592212"/>
          <a:ext cx="3171370" cy="275909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-8865"/>
                <a:lumOff val="22759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-8865"/>
                <a:lumOff val="22759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-8865"/>
                <a:lumOff val="227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4200" kern="1200"/>
        </a:p>
      </dsp:txBody>
      <dsp:txXfrm rot="-5400000">
        <a:off x="6273048" y="5880278"/>
        <a:ext cx="1899174" cy="2182960"/>
      </dsp:txXfrm>
    </dsp:sp>
    <dsp:sp modelId="{2234FDDB-5740-44B6-BA52-D41104FA2F9B}">
      <dsp:nvSpPr>
        <dsp:cNvPr id="0" name=""/>
        <dsp:cNvSpPr/>
      </dsp:nvSpPr>
      <dsp:spPr>
        <a:xfrm>
          <a:off x="8685905" y="6020347"/>
          <a:ext cx="3539249" cy="1902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3600" kern="1200"/>
        </a:p>
      </dsp:txBody>
      <dsp:txXfrm>
        <a:off x="8685905" y="6020347"/>
        <a:ext cx="3539249" cy="1902822"/>
      </dsp:txXfrm>
    </dsp:sp>
    <dsp:sp modelId="{B8AC8C1A-BDB3-4168-981F-19B0BF1BF0E9}">
      <dsp:nvSpPr>
        <dsp:cNvPr id="0" name=""/>
        <dsp:cNvSpPr/>
      </dsp:nvSpPr>
      <dsp:spPr>
        <a:xfrm rot="5400000">
          <a:off x="2657130" y="5592212"/>
          <a:ext cx="3171370" cy="2759092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2">
                <a:shade val="80000"/>
                <a:hueOff val="0"/>
                <a:satOff val="-11081"/>
                <a:lumOff val="28449"/>
                <a:alphaOff val="0"/>
                <a:shade val="51000"/>
                <a:satMod val="130000"/>
              </a:schemeClr>
            </a:gs>
            <a:gs pos="80000">
              <a:schemeClr val="accent2">
                <a:shade val="80000"/>
                <a:hueOff val="0"/>
                <a:satOff val="-11081"/>
                <a:lumOff val="28449"/>
                <a:alphaOff val="0"/>
                <a:shade val="93000"/>
                <a:satMod val="130000"/>
              </a:schemeClr>
            </a:gs>
            <a:gs pos="100000">
              <a:schemeClr val="accent2">
                <a:shade val="80000"/>
                <a:hueOff val="0"/>
                <a:satOff val="-11081"/>
                <a:lumOff val="284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O" sz="3600" kern="1200"/>
        </a:p>
      </dsp:txBody>
      <dsp:txXfrm rot="-5400000">
        <a:off x="3293228" y="5880278"/>
        <a:ext cx="1899174" cy="2182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>
            <a:extLst>
              <a:ext uri="{FF2B5EF4-FFF2-40B4-BE49-F238E27FC236}">
                <a16:creationId xmlns:a16="http://schemas.microsoft.com/office/drawing/2014/main" id="{E11AC37A-F9FC-E293-6F4D-CFBE8DEA11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89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3480" tIns="31739" rIns="63480" bIns="31739" numCol="1" anchor="t" anchorCtr="0" compatLnSpc="1">
            <a:prstTxWarp prst="textNoShape">
              <a:avLst/>
            </a:prstTxWarp>
          </a:bodyPr>
          <a:lstStyle>
            <a:lvl1pPr algn="l" defTabSz="636588" eaLnBrk="0" hangingPunct="0">
              <a:spcBef>
                <a:spcPct val="0"/>
              </a:spcBef>
              <a:defRPr sz="8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219" name="Rectangle 1027">
            <a:extLst>
              <a:ext uri="{FF2B5EF4-FFF2-40B4-BE49-F238E27FC236}">
                <a16:creationId xmlns:a16="http://schemas.microsoft.com/office/drawing/2014/main" id="{3649D047-23AB-C241-7E50-5CF019A0AE6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33712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3480" tIns="31739" rIns="63480" bIns="31739" numCol="1" anchor="t" anchorCtr="0" compatLnSpc="1">
            <a:prstTxWarp prst="textNoShape">
              <a:avLst/>
            </a:prstTxWarp>
          </a:bodyPr>
          <a:lstStyle>
            <a:lvl1pPr algn="r" defTabSz="636588" eaLnBrk="0" hangingPunct="0">
              <a:spcBef>
                <a:spcPct val="0"/>
              </a:spcBef>
              <a:defRPr sz="8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220" name="Rectangle 1028">
            <a:extLst>
              <a:ext uri="{FF2B5EF4-FFF2-40B4-BE49-F238E27FC236}">
                <a16:creationId xmlns:a16="http://schemas.microsoft.com/office/drawing/2014/main" id="{D23F1C3E-C211-ACF4-9CAD-5A6451ED78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6975"/>
            <a:ext cx="30289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3480" tIns="31739" rIns="63480" bIns="31739" numCol="1" anchor="b" anchorCtr="0" compatLnSpc="1">
            <a:prstTxWarp prst="textNoShape">
              <a:avLst/>
            </a:prstTxWarp>
          </a:bodyPr>
          <a:lstStyle>
            <a:lvl1pPr algn="l" defTabSz="636588" eaLnBrk="0" hangingPunct="0">
              <a:spcBef>
                <a:spcPct val="0"/>
              </a:spcBef>
              <a:defRPr sz="8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221" name="Rectangle 1029">
            <a:extLst>
              <a:ext uri="{FF2B5EF4-FFF2-40B4-BE49-F238E27FC236}">
                <a16:creationId xmlns:a16="http://schemas.microsoft.com/office/drawing/2014/main" id="{100CAFEB-5F6A-04AA-D39A-1B122232940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16975"/>
            <a:ext cx="30337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63480" tIns="31739" rIns="63480" bIns="31739" numCol="1" anchor="b" anchorCtr="0" compatLnSpc="1">
            <a:prstTxWarp prst="textNoShape">
              <a:avLst/>
            </a:prstTxWarp>
          </a:bodyPr>
          <a:lstStyle>
            <a:lvl1pPr algn="r" defTabSz="636588">
              <a:defRPr sz="8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DC5F051-9906-4605-B60F-5EBC434F75B7}" type="slidenum">
              <a:rPr lang="en-GB" altLang="es-CO"/>
              <a:pPr>
                <a:defRPr/>
              </a:pPr>
              <a:t>‹Nº›</a:t>
            </a:fld>
            <a:endParaRPr lang="en-GB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430662" y="10625818"/>
            <a:ext cx="27542728" cy="733092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4861322" y="19382998"/>
            <a:ext cx="22681406" cy="8739943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9E30BB-825A-C74D-8ED0-2AFAE3B3D5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87B426-817A-5056-DC26-EA3BBD439C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5140A0-202D-52E7-60AE-DA1BA71F9E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ED03B5-5086-40E3-837D-F03E0501406F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65294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D2B527-F5A3-E4F5-6485-21A3B29CF6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589FAF-7ED3-1EE5-47BC-8F1B8D56B4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8F387D-0718-BC76-77FE-2434C3CA98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3B825E-0B56-4CE5-8CE8-23479DE2AC7B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249988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9249" y="21979846"/>
            <a:ext cx="27544514" cy="679230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559249" y="14496673"/>
            <a:ext cx="27544514" cy="748317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C21DBCC-CA0C-ACB5-AAA6-0CD96230FE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80CF8D-EEC2-1619-4658-393AE9F0C6B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6DDCD7E-441C-DF3E-4250-7787FE715F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7A738-67E6-4000-B3F6-334A5FDBEE78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71183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430661" y="9883247"/>
            <a:ext cx="13685639" cy="205219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6287750" y="9883247"/>
            <a:ext cx="13685640" cy="2052199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86D799-3B91-43E3-58EF-FAAF79DF1A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9649A3-A5D2-BAF7-3004-43E7FDC40B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65C38F-5930-C1CB-88E0-AE0CBC808C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DD230-66BF-422C-ACCA-89845FEB53AE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6061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19847" y="1370239"/>
            <a:ext cx="29164359" cy="570071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619847" y="7656967"/>
            <a:ext cx="14317860" cy="31900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619847" y="10847010"/>
            <a:ext cx="14317860" cy="197076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16460986" y="7656967"/>
            <a:ext cx="14323219" cy="319004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16460986" y="10847010"/>
            <a:ext cx="14323219" cy="197076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8C4495-C526-0842-B106-CE759532F7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281583D-3971-41BA-22FA-8BCD3F107A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E1662B4-1B64-AC2E-DE81-16218F260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F57CAE-B47F-40E2-B36B-BFA35865901E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10647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DDE3DF9-D5F1-B404-EDB4-20A69914AD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0B9E532-2BB2-3B40-00C0-5DD06CAA1D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BB12CA4-170E-9589-590E-0EBB23A4AF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AC214-A645-4E94-B5B9-037C46A3D1F6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106886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536A2F4-6CAE-A0C6-25E3-01A981E41F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D66B506-F874-9FBF-CFFB-C3270923A0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F0A3BB-28E0-9A60-FD3D-1747369909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2F0BD7-6E15-40CD-89B4-A4C766577E76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25500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19847" y="1361622"/>
            <a:ext cx="10660260" cy="579550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2669441" y="1361621"/>
            <a:ext cx="18114765" cy="291929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619847" y="7157131"/>
            <a:ext cx="10660260" cy="233974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831193-12EB-CEA5-21D6-F84EA6A8C0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5B46A1-D314-7409-1482-08400CF917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F81F5-BC9F-E18A-B772-8B29E1FD81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90A00-2CC0-4B0A-9C05-0EE69ECD0662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4225538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350794" y="23943280"/>
            <a:ext cx="19443502" cy="282665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6350794" y="3056467"/>
            <a:ext cx="19443502" cy="2052199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350794" y="26769937"/>
            <a:ext cx="19443502" cy="401448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C3F9FC-B85B-AAF8-B616-9F2DE2A290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C256A4-0A0B-39C6-2A10-FFC84FF75D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A6002F-C9F1-58F5-7B49-2AA8C32665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E7136-7034-4DE3-8F85-0D2CA8888112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982742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252BA9-F002-D0C5-6A3B-96B53D04DB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BCDE347-2221-17ED-DD3C-3745B15935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FD48FE-511E-0B19-AED2-73B49DDB2F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75F7C3-E143-40F5-8B16-941072F693FB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263354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23088600" y="3043541"/>
            <a:ext cx="6884790" cy="2736169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430661" y="3043541"/>
            <a:ext cx="20486489" cy="27361696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BF5DFF-BE6D-DD27-DBF6-A23EA4B3FF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D2568A-41B4-E4A5-EAC0-F06BD858A4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D1B023C-36F9-8AB5-E6EC-C72069CB8E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37846-D26D-44A6-B55D-33CA6CAD0BC5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  <p:extLst>
      <p:ext uri="{BB962C8B-B14F-4D97-AF65-F5344CB8AC3E}">
        <p14:creationId xmlns:p14="http://schemas.microsoft.com/office/powerpoint/2010/main" val="32018065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F748A72-D1AE-F47A-9F7C-4B1396FAD1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430463" y="3843338"/>
            <a:ext cx="27543125" cy="719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6059" tIns="193027" rIns="386059" bIns="1930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CO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93AA07-5873-4A04-9B9E-F76920C09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430463" y="12484100"/>
            <a:ext cx="27543125" cy="259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86059" tIns="193027" rIns="386059" bIns="1930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s-CO"/>
              <a:t>Click to edit Master text styles</a:t>
            </a:r>
          </a:p>
          <a:p>
            <a:pPr lvl="1"/>
            <a:r>
              <a:rPr lang="en-US" altLang="es-CO"/>
              <a:t>Second level</a:t>
            </a:r>
          </a:p>
          <a:p>
            <a:pPr lvl="2"/>
            <a:r>
              <a:rPr lang="en-US" altLang="es-CO"/>
              <a:t>Third level</a:t>
            </a:r>
          </a:p>
          <a:p>
            <a:pPr lvl="3"/>
            <a:r>
              <a:rPr lang="en-US" altLang="es-CO"/>
              <a:t>Fourth level</a:t>
            </a:r>
          </a:p>
          <a:p>
            <a:pPr lvl="4"/>
            <a:r>
              <a:rPr lang="en-US" altLang="es-CO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BE0FEA5-034A-0CF2-C6F1-CED64AC0F75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0463" y="39362063"/>
            <a:ext cx="6751637" cy="288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6059" tIns="193027" rIns="386059" bIns="193027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defRPr sz="60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96543EB-322A-CC6A-9735-B6272B1DDAA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072813" y="39362063"/>
            <a:ext cx="10258425" cy="288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6059" tIns="193027" rIns="386059" bIns="193027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0"/>
              </a:spcBef>
              <a:defRPr sz="60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233E378-AE4D-936B-A2D4-862A23444C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221950" y="39362063"/>
            <a:ext cx="6751638" cy="288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6059" tIns="193027" rIns="386059" bIns="193027" numCol="1" anchor="t" anchorCtr="0" compatLnSpc="1">
            <a:prstTxWarp prst="textNoShape">
              <a:avLst/>
            </a:prstTxWarp>
          </a:bodyPr>
          <a:lstStyle>
            <a:lvl1pPr algn="r">
              <a:defRPr sz="60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015BFB3-AD2D-4062-8686-9D4837569277}" type="slidenum">
              <a:rPr lang="en-US" altLang="es-CO"/>
              <a:pPr>
                <a:defRPr/>
              </a:pPr>
              <a:t>‹Nº›</a:t>
            </a:fld>
            <a:endParaRPr lang="en-US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859213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+mj-lt"/>
          <a:ea typeface="+mj-ea"/>
          <a:cs typeface="+mj-cs"/>
        </a:defRPr>
      </a:lvl1pPr>
      <a:lvl2pPr algn="ctr" defTabSz="3859213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 New Roman" pitchFamily="18" charset="0"/>
        </a:defRPr>
      </a:lvl2pPr>
      <a:lvl3pPr algn="ctr" defTabSz="3859213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 New Roman" pitchFamily="18" charset="0"/>
        </a:defRPr>
      </a:lvl3pPr>
      <a:lvl4pPr algn="ctr" defTabSz="3859213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 New Roman" pitchFamily="18" charset="0"/>
        </a:defRPr>
      </a:lvl4pPr>
      <a:lvl5pPr algn="ctr" defTabSz="3859213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 New Roman" pitchFamily="18" charset="0"/>
        </a:defRPr>
      </a:lvl5pPr>
      <a:lvl6pPr marL="457200" algn="ctr" defTabSz="3859213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 New Roman" pitchFamily="18" charset="0"/>
        </a:defRPr>
      </a:lvl6pPr>
      <a:lvl7pPr marL="914400" algn="ctr" defTabSz="3859213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 New Roman" pitchFamily="18" charset="0"/>
        </a:defRPr>
      </a:lvl7pPr>
      <a:lvl8pPr marL="1371600" algn="ctr" defTabSz="3859213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 New Roman" pitchFamily="18" charset="0"/>
        </a:defRPr>
      </a:lvl8pPr>
      <a:lvl9pPr marL="1828800" algn="ctr" defTabSz="3859213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 New Roman" pitchFamily="18" charset="0"/>
        </a:defRPr>
      </a:lvl9pPr>
    </p:titleStyle>
    <p:bodyStyle>
      <a:lvl1pPr marL="1449388" indent="-1449388" algn="l" defTabSz="3859213" rtl="0" eaLnBrk="0" fontAlgn="base" hangingPunct="0">
        <a:spcBef>
          <a:spcPct val="20000"/>
        </a:spcBef>
        <a:spcAft>
          <a:spcPct val="0"/>
        </a:spcAft>
        <a:buChar char="•"/>
        <a:defRPr sz="13600">
          <a:solidFill>
            <a:schemeClr val="tx1"/>
          </a:solidFill>
          <a:latin typeface="+mn-lt"/>
          <a:ea typeface="+mn-ea"/>
          <a:cs typeface="+mn-cs"/>
        </a:defRPr>
      </a:lvl1pPr>
      <a:lvl2pPr marL="3135313" indent="-1204913" algn="l" defTabSz="3859213" rtl="0" eaLnBrk="0" fontAlgn="base" hangingPunct="0">
        <a:spcBef>
          <a:spcPct val="20000"/>
        </a:spcBef>
        <a:spcAft>
          <a:spcPct val="0"/>
        </a:spcAft>
        <a:buChar char="–"/>
        <a:defRPr sz="11900">
          <a:solidFill>
            <a:schemeClr val="tx1"/>
          </a:solidFill>
          <a:latin typeface="+mn-lt"/>
        </a:defRPr>
      </a:lvl2pPr>
      <a:lvl3pPr marL="4824413" indent="-965200" algn="l" defTabSz="3859213" rtl="0" eaLnBrk="0" fontAlgn="base" hangingPunct="0">
        <a:spcBef>
          <a:spcPct val="20000"/>
        </a:spcBef>
        <a:spcAft>
          <a:spcPct val="0"/>
        </a:spcAft>
        <a:buChar char="•"/>
        <a:defRPr sz="10400">
          <a:solidFill>
            <a:schemeClr val="tx1"/>
          </a:solidFill>
          <a:latin typeface="+mn-lt"/>
        </a:defRPr>
      </a:lvl3pPr>
      <a:lvl4pPr marL="6754813" indent="-965200" algn="l" defTabSz="3859213" rtl="0" eaLnBrk="0" fontAlgn="base" hangingPunct="0">
        <a:spcBef>
          <a:spcPct val="20000"/>
        </a:spcBef>
        <a:spcAft>
          <a:spcPct val="0"/>
        </a:spcAft>
        <a:buChar char="–"/>
        <a:defRPr sz="8400">
          <a:solidFill>
            <a:schemeClr val="tx1"/>
          </a:solidFill>
          <a:latin typeface="+mn-lt"/>
        </a:defRPr>
      </a:lvl4pPr>
      <a:lvl5pPr marL="8685213" indent="-965200" algn="l" defTabSz="3859213" rtl="0" eaLnBrk="0" fontAlgn="base" hangingPunct="0">
        <a:spcBef>
          <a:spcPct val="20000"/>
        </a:spcBef>
        <a:spcAft>
          <a:spcPct val="0"/>
        </a:spcAft>
        <a:buChar char="»"/>
        <a:defRPr sz="8400">
          <a:solidFill>
            <a:schemeClr val="tx1"/>
          </a:solidFill>
          <a:latin typeface="+mn-lt"/>
        </a:defRPr>
      </a:lvl5pPr>
      <a:lvl6pPr marL="9142413" indent="-965200" algn="l" defTabSz="3859213" rtl="0" eaLnBrk="0" fontAlgn="base" hangingPunct="0">
        <a:spcBef>
          <a:spcPct val="20000"/>
        </a:spcBef>
        <a:spcAft>
          <a:spcPct val="0"/>
        </a:spcAft>
        <a:buChar char="»"/>
        <a:defRPr sz="8400">
          <a:solidFill>
            <a:schemeClr val="tx1"/>
          </a:solidFill>
          <a:latin typeface="+mn-lt"/>
        </a:defRPr>
      </a:lvl6pPr>
      <a:lvl7pPr marL="9599613" indent="-965200" algn="l" defTabSz="3859213" rtl="0" eaLnBrk="0" fontAlgn="base" hangingPunct="0">
        <a:spcBef>
          <a:spcPct val="20000"/>
        </a:spcBef>
        <a:spcAft>
          <a:spcPct val="0"/>
        </a:spcAft>
        <a:buChar char="»"/>
        <a:defRPr sz="8400">
          <a:solidFill>
            <a:schemeClr val="tx1"/>
          </a:solidFill>
          <a:latin typeface="+mn-lt"/>
        </a:defRPr>
      </a:lvl7pPr>
      <a:lvl8pPr marL="10056813" indent="-965200" algn="l" defTabSz="3859213" rtl="0" eaLnBrk="0" fontAlgn="base" hangingPunct="0">
        <a:spcBef>
          <a:spcPct val="20000"/>
        </a:spcBef>
        <a:spcAft>
          <a:spcPct val="0"/>
        </a:spcAft>
        <a:buChar char="»"/>
        <a:defRPr sz="8400">
          <a:solidFill>
            <a:schemeClr val="tx1"/>
          </a:solidFill>
          <a:latin typeface="+mn-lt"/>
        </a:defRPr>
      </a:lvl8pPr>
      <a:lvl9pPr marL="10514013" indent="-965200" algn="l" defTabSz="3859213" rtl="0" eaLnBrk="0" fontAlgn="base" hangingPunct="0">
        <a:spcBef>
          <a:spcPct val="20000"/>
        </a:spcBef>
        <a:spcAft>
          <a:spcPct val="0"/>
        </a:spcAft>
        <a:buChar char="»"/>
        <a:defRPr sz="84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Relationship Id="rId9" Type="http://schemas.microsoft.com/office/2007/relationships/diagramDrawing" Target="../diagrams/drawing1.xml"/><Relationship Id="rId10" Type="http://schemas.openxmlformats.org/officeDocument/2006/relationships/image" Target="../media/image4.jpg"/><Relationship Id="rId11" Type="http://schemas.openxmlformats.org/officeDocument/2006/relationships/image" Target="../media/image5.png"/><Relationship Id="rId1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AutoShape 8">
            <a:extLst>
              <a:ext uri="{FF2B5EF4-FFF2-40B4-BE49-F238E27FC236}">
                <a16:creationId xmlns:a16="http://schemas.microsoft.com/office/drawing/2014/main" id="{16AC534B-77D5-722D-F3F1-52E1A2C81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3600" y="30027563"/>
            <a:ext cx="16557625" cy="4735512"/>
          </a:xfrm>
          <a:prstGeom prst="flowChartAlternateProcess">
            <a:avLst/>
          </a:prstGeom>
          <a:noFill/>
          <a:ln w="8255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 lIns="115818" tIns="57912" rIns="115818" bIns="57912" anchor="ctr"/>
          <a:lstStyle/>
          <a:p>
            <a:pPr algn="just" defTabSz="1160463">
              <a:defRPr/>
            </a:pPr>
            <a:endParaRPr lang="es-ES_tradnl" sz="32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052" name="AutoShape 171">
            <a:extLst>
              <a:ext uri="{FF2B5EF4-FFF2-40B4-BE49-F238E27FC236}">
                <a16:creationId xmlns:a16="http://schemas.microsoft.com/office/drawing/2014/main" id="{E54468E0-B6B0-5B94-BCFF-1DAFFAF22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40468550"/>
            <a:ext cx="31394400" cy="2192338"/>
          </a:xfrm>
          <a:prstGeom prst="flowChartAlternateProcess">
            <a:avLst/>
          </a:prstGeom>
          <a:noFill/>
          <a:ln w="8255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 lIns="115818" tIns="57912" rIns="115818" bIns="57912" anchor="ctr"/>
          <a:lstStyle/>
          <a:p>
            <a:pPr algn="just" defTabSz="1160463">
              <a:defRPr/>
            </a:pPr>
            <a:endParaRPr lang="es-ES_tradnl" sz="32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2224" name="AutoShape 176">
            <a:extLst>
              <a:ext uri="{FF2B5EF4-FFF2-40B4-BE49-F238E27FC236}">
                <a16:creationId xmlns:a16="http://schemas.microsoft.com/office/drawing/2014/main" id="{FFE5CCCE-0251-065B-0F91-288B37FD1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7104063"/>
            <a:ext cx="13608050" cy="9344025"/>
          </a:xfrm>
          <a:prstGeom prst="flowChartAlternateProcess">
            <a:avLst/>
          </a:prstGeom>
          <a:noFill/>
          <a:ln w="82550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lIns="72000" tIns="72000" rIns="72000" bIns="72000" anchor="t" anchorCtr="1" wrap="square">
            <a:spAutoFit/>
          </a:bodyPr>
          <a:lstStyle/>
          <a:p>
            <a:pPr algn="just" defTabSz="1160463">
              <a:spcAft>
                <a:spcPts val="1600"/>
              </a:spcAft>
              <a:defRPr/>
            </a:pPr>
            <a:r>
              <a:rPr sz="2600" b="0" i="0">
                <a:solidFill>
                  <a:srgbClr val="222233"/>
                </a:solidFill>
                <a:latin typeface="Calibri"/>
              </a:rPr>
              <a:t>El fraude en transacciones electrónicas genera pérdidas operacionales superiores a 4 USD por cada dólar perdido directamente (LexisNexis, 2024). Implementamos un sistema de detección de fraude en tiempo real basado en XGBoost optimizado con Optuna, entrenado sobre el dataset público IEEE-CIS Fraud Detection (~590.000 transacciones, ~3.5% fraude).</a:t>
            </a:r>
            <a:endParaRPr lang="es-ES_tradnl" sz="3200" b="1" i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cs typeface="Arial" charset="0"/>
            </a:endParaRPr>
          </a:p>
          <a:p>
            <a:pPr algn="just">
              <a:spcAft>
                <a:spcPts val="1600"/>
              </a:spcAft>
            </a:pPr>
            <a:r>
              <a:rPr sz="2600" b="0" i="0">
                <a:solidFill>
                  <a:srgbClr val="222233"/>
                </a:solidFill>
                <a:latin typeface="Calibri"/>
              </a:rPr>
              <a:t>Partimos de un baseline de Regresión Logística (ROC-AUC = 0.76) y lo superamos con XGBoost utilizando 17 features inspiradas en las 433 columnas reales del IEEE-CIS, alcanzando ROC-AUC = 0.97 en test.</a:t>
            </a:r>
          </a:p>
          <a:p>
            <a:pPr algn="just"/>
            <a:r>
              <a:rPr sz="2600" b="0" i="0">
                <a:solidFill>
                  <a:srgbClr val="222233"/>
                </a:solidFill>
                <a:latin typeface="Calibri"/>
              </a:rPr>
              <a:t>La demo Gradio simula una pasarela de checkout completa y entrega decisiones APROBADA / REVISIÓN / BLOQUEADA en menos de 200 ms.</a:t>
            </a:r>
          </a:p>
        </p:txBody>
      </p:sp>
      <p:sp>
        <p:nvSpPr>
          <p:cNvPr id="54" name="Text Box 67">
            <a:extLst>
              <a:ext uri="{FF2B5EF4-FFF2-40B4-BE49-F238E27FC236}">
                <a16:creationId xmlns:a16="http://schemas.microsoft.com/office/drawing/2014/main" id="{0515E7EF-770F-3668-541D-8331B6182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613" y="16427450"/>
            <a:ext cx="5375275" cy="771623"/>
          </a:xfrm>
          <a:prstGeom prst="rect">
            <a:avLst/>
          </a:prstGeom>
          <a:noFill/>
          <a:ln w="63500" cap="rnd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CO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entury Gothic" panose="020B0502020202020204" pitchFamily="34" charset="0"/>
              </a:rPr>
              <a:t>OBJETIVOS </a:t>
            </a:r>
          </a:p>
        </p:txBody>
      </p:sp>
      <p:sp>
        <p:nvSpPr>
          <p:cNvPr id="2055" name="AutoShape 176">
            <a:extLst>
              <a:ext uri="{FF2B5EF4-FFF2-40B4-BE49-F238E27FC236}">
                <a16:creationId xmlns:a16="http://schemas.microsoft.com/office/drawing/2014/main" id="{A2192908-CBE5-F414-09A6-2BE0E24DD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55838" y="6808788"/>
            <a:ext cx="16556037" cy="21299487"/>
          </a:xfrm>
          <a:prstGeom prst="flowChartAlternateProcess">
            <a:avLst/>
          </a:prstGeom>
          <a:noFill/>
          <a:ln w="82550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lIns="72000" tIns="72000" rIns="72000" bIns="72000" anchor="t" anchorCtr="1" wrap="square">
            <a:spAutoFit/>
          </a:bodyPr>
          <a:lstStyle/>
          <a:p>
            <a:pPr algn="l" defTabSz="1160463">
              <a:defRPr/>
            </a:pPr>
            <a:r>
              <a:rPr sz="800" b="0" i="0">
                <a:solidFill>
                  <a:srgbClr val="222233"/>
                </a:solidFill>
                <a:latin typeface="Calibri"/>
              </a:rPr>
              <a:t/>
            </a:r>
            <a:endParaRPr lang="es-ES_tradnl" sz="32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1085" name="Text Box 61">
            <a:extLst>
              <a:ext uri="{FF2B5EF4-FFF2-40B4-BE49-F238E27FC236}">
                <a16:creationId xmlns:a16="http://schemas.microsoft.com/office/drawing/2014/main" id="{804CF839-ED31-12A2-E207-A6282F21C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88" y="6048375"/>
            <a:ext cx="12244387" cy="771623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>
            <a:lvl1pPr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defRPr/>
            </a:pPr>
            <a:r>
              <a:rPr lang="es-ES_tradnl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entury Gothic" panose="020B0502020202020204" pitchFamily="34" charset="0"/>
              </a:rPr>
              <a:t>RESUMEN</a:t>
            </a:r>
            <a:endParaRPr lang="es-ES" sz="4400" b="1" dirty="0">
              <a:effectLst>
                <a:outerShdw blurRad="38100" dist="38100" dir="2700000" algn="tl">
                  <a:srgbClr val="C0C0C0"/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1087" name="Text Box 63">
            <a:extLst>
              <a:ext uri="{FF2B5EF4-FFF2-40B4-BE49-F238E27FC236}">
                <a16:creationId xmlns:a16="http://schemas.microsoft.com/office/drawing/2014/main" id="{11985F21-7EFA-27BF-C077-2329521E4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11400" y="6048375"/>
            <a:ext cx="16873538" cy="771623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>
              <a:defRPr/>
            </a:pPr>
            <a:r>
              <a:rPr lang="es-ES_tradnl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entury Gothic" panose="020B0502020202020204" pitchFamily="34" charset="0"/>
              </a:rPr>
              <a:t>RESULTADOS</a:t>
            </a:r>
            <a:endParaRPr lang="es-ES" sz="4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4" name="Text Box 67">
            <a:extLst>
              <a:ext uri="{FF2B5EF4-FFF2-40B4-BE49-F238E27FC236}">
                <a16:creationId xmlns:a16="http://schemas.microsoft.com/office/drawing/2014/main" id="{8A28DBC7-4E9C-1836-5C6E-96F5B2A08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39443025"/>
            <a:ext cx="31883350" cy="771623"/>
          </a:xfrm>
          <a:prstGeom prst="rect">
            <a:avLst/>
          </a:prstGeom>
          <a:noFill/>
          <a:ln w="63500" cap="rnd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entury Gothic" panose="020B0502020202020204" pitchFamily="34" charset="0"/>
              </a:rPr>
              <a:t>AGRADECIMIENTOS</a:t>
            </a:r>
            <a:endParaRPr lang="es-CO" sz="4400" b="1" dirty="0">
              <a:effectLst>
                <a:outerShdw blurRad="38100" dist="38100" dir="2700000" algn="tl">
                  <a:srgbClr val="C0C0C0"/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2059" name="AutoShape 171">
            <a:extLst>
              <a:ext uri="{FF2B5EF4-FFF2-40B4-BE49-F238E27FC236}">
                <a16:creationId xmlns:a16="http://schemas.microsoft.com/office/drawing/2014/main" id="{0CEBDDA4-A26C-BD7D-D6DA-FCE563328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8063" y="35788600"/>
            <a:ext cx="16341725" cy="3600450"/>
          </a:xfrm>
          <a:prstGeom prst="flowChartAlternateProcess">
            <a:avLst/>
          </a:prstGeom>
          <a:noFill/>
          <a:ln w="8255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 lIns="115818" tIns="57912" rIns="115818" bIns="57912" anchor="ctr"/>
          <a:lstStyle/>
          <a:p>
            <a:pPr marL="247650" indent="9525" algn="just" defTabSz="1160463" eaLnBrk="1" hangingPunct="1">
              <a:spcBef>
                <a:spcPct val="50000"/>
              </a:spcBef>
              <a:defRPr/>
            </a:pPr>
            <a:endParaRPr lang="en-US" sz="2800" dirty="0">
              <a:latin typeface="Garamond" pitchFamily="18" charset="0"/>
            </a:endParaRPr>
          </a:p>
        </p:txBody>
      </p:sp>
      <p:sp>
        <p:nvSpPr>
          <p:cNvPr id="6" name="Text Box 67">
            <a:extLst>
              <a:ext uri="{FF2B5EF4-FFF2-40B4-BE49-F238E27FC236}">
                <a16:creationId xmlns:a16="http://schemas.microsoft.com/office/drawing/2014/main" id="{5CC63D9F-7563-D0F2-EAFB-A5B449627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45125" y="35026600"/>
            <a:ext cx="11345863" cy="771525"/>
          </a:xfrm>
          <a:prstGeom prst="rect">
            <a:avLst/>
          </a:prstGeom>
          <a:noFill/>
          <a:ln w="63500" cap="rnd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entury Gothic" panose="020B0502020202020204" pitchFamily="34" charset="0"/>
              </a:rPr>
              <a:t>REFERENCIAS BIBLIOGRÁFICAS</a:t>
            </a:r>
            <a:endParaRPr lang="es-CO" sz="4400" b="1" dirty="0">
              <a:effectLst>
                <a:outerShdw blurRad="38100" dist="38100" dir="2700000" algn="tl">
                  <a:srgbClr val="C0C0C0"/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7" name="Text Box 67">
            <a:extLst>
              <a:ext uri="{FF2B5EF4-FFF2-40B4-BE49-F238E27FC236}">
                <a16:creationId xmlns:a16="http://schemas.microsoft.com/office/drawing/2014/main" id="{36D95A53-164D-8C15-0D68-62ECE6CD9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93963" y="29021088"/>
            <a:ext cx="17246600" cy="771623"/>
          </a:xfrm>
          <a:prstGeom prst="rect">
            <a:avLst/>
          </a:prstGeom>
          <a:noFill/>
          <a:ln w="63500" cap="rnd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ES_tradnl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entury Gothic" panose="020B0502020202020204" pitchFamily="34" charset="0"/>
              </a:rPr>
              <a:t>CONCLUSIONES</a:t>
            </a:r>
            <a:endParaRPr lang="es-CO" sz="4400" b="1" dirty="0">
              <a:effectLst>
                <a:outerShdw blurRad="38100" dist="38100" dir="2700000" algn="tl">
                  <a:srgbClr val="C0C0C0"/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3085" name="Text Box 214">
            <a:extLst>
              <a:ext uri="{FF2B5EF4-FFF2-40B4-BE49-F238E27FC236}">
                <a16:creationId xmlns:a16="http://schemas.microsoft.com/office/drawing/2014/main" id="{CE099CD4-2DCE-1C52-5C36-1CE896982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9675" y="27306588"/>
            <a:ext cx="18415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1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1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es-ES_tradnl" altLang="es-CO" sz="3800" b="1"/>
          </a:p>
        </p:txBody>
      </p:sp>
      <p:sp>
        <p:nvSpPr>
          <p:cNvPr id="3086" name="Rectangle 64">
            <a:extLst>
              <a:ext uri="{FF2B5EF4-FFF2-40B4-BE49-F238E27FC236}">
                <a16:creationId xmlns:a16="http://schemas.microsoft.com/office/drawing/2014/main" id="{BF9DAE00-1960-E3CB-07B1-D3C749090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82963" y="21480463"/>
            <a:ext cx="2381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1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1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ES" altLang="es-CO" sz="1000" b="1"/>
              <a:t>r</a:t>
            </a:r>
          </a:p>
        </p:txBody>
      </p:sp>
      <p:pic>
        <p:nvPicPr>
          <p:cNvPr id="3087" name="Picture 94">
            <a:extLst>
              <a:ext uri="{FF2B5EF4-FFF2-40B4-BE49-F238E27FC236}">
                <a16:creationId xmlns:a16="http://schemas.microsoft.com/office/drawing/2014/main" id="{C558F5B4-FAB7-8B35-8930-8DABF0FC5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1988" y="12571413"/>
            <a:ext cx="57912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8" name="Picture 96">
            <a:extLst>
              <a:ext uri="{FF2B5EF4-FFF2-40B4-BE49-F238E27FC236}">
                <a16:creationId xmlns:a16="http://schemas.microsoft.com/office/drawing/2014/main" id="{1CE2229F-8A07-0ED4-5485-5C576E7CF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3788" y="12571413"/>
            <a:ext cx="57912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" name="AutoShape 176">
            <a:extLst>
              <a:ext uri="{FF2B5EF4-FFF2-40B4-BE49-F238E27FC236}">
                <a16:creationId xmlns:a16="http://schemas.microsoft.com/office/drawing/2014/main" id="{1614BAE1-64BC-7A93-F83B-8A7FBE17A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24" y="17291304"/>
            <a:ext cx="13642848" cy="4114800"/>
          </a:xfrm>
          <a:prstGeom prst="flowChartAlternateProcess">
            <a:avLst/>
          </a:prstGeom>
          <a:noFill/>
          <a:ln w="82550">
            <a:solidFill>
              <a:schemeClr val="accent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lIns="72000" tIns="72000" rIns="72000" bIns="72000" anchor="t" anchorCtr="1" wrap="square">
            <a:spAutoFit/>
          </a:bodyPr>
          <a:lstStyle/>
          <a:p>
            <a:pPr algn="l" defTabSz="1160463">
              <a:spcAft>
                <a:spcPts val="400"/>
              </a:spcAft>
              <a:defRPr/>
            </a:pPr>
            <a:r>
              <a:rPr sz="2400" b="1" i="0">
                <a:solidFill>
                  <a:srgbClr val="1E2761"/>
                </a:solidFill>
                <a:latin typeface="Calibri"/>
              </a:rPr>
              <a:t>Objetivo general</a:t>
            </a:r>
          </a:p>
          <a:p>
            <a:pPr algn="just">
              <a:spcAft>
                <a:spcPts val="1000"/>
              </a:spcAft>
            </a:pPr>
            <a:r>
              <a:rPr sz="1900" b="0" i="0">
                <a:solidFill>
                  <a:srgbClr val="222233"/>
                </a:solidFill>
                <a:latin typeface="Calibri"/>
              </a:rPr>
              <a:t>Implementar un sistema de detección de fraude transaccional en tiempo real con XGBoost optimizado que clasifique pagos en tres niveles de riesgo.</a:t>
            </a:r>
          </a:p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E2761"/>
                </a:solidFill>
                <a:latin typeface="Calibri"/>
              </a:rPr>
              <a:t>Objetivos específicos</a:t>
            </a:r>
          </a:p>
          <a:p>
            <a:pPr algn="l">
              <a:spcAft>
                <a:spcPts val="300"/>
              </a:spcAft>
            </a:pPr>
            <a:r>
              <a:rPr sz="1900" b="0" i="0">
                <a:solidFill>
                  <a:srgbClr val="222233"/>
                </a:solidFill>
                <a:latin typeface="Calibri"/>
              </a:rPr>
              <a:t>1.  Construir un baseline de Regresión Logística con balanced class weight.</a:t>
            </a:r>
          </a:p>
          <a:p>
            <a:pPr algn="l">
              <a:spcAft>
                <a:spcPts val="300"/>
              </a:spcAft>
            </a:pPr>
            <a:r>
              <a:rPr sz="1900" b="0" i="0">
                <a:solidFill>
                  <a:srgbClr val="222233"/>
                </a:solidFill>
                <a:latin typeface="Calibri"/>
              </a:rPr>
              <a:t>2.  Entrenar y optimizar XGBoost con Optuna (50 trials, PR-AUC) sobre 17 features tipo IEEE-CIS.</a:t>
            </a:r>
          </a:p>
          <a:p>
            <a:pPr algn="l"/>
            <a:r>
              <a:rPr sz="1900" b="0" i="0">
                <a:solidFill>
                  <a:srgbClr val="222233"/>
                </a:solidFill>
                <a:latin typeface="Calibri"/>
              </a:rPr>
              <a:t>3.  Diseñar una demo Gradio tipo checkout con trazabilidad de features.</a:t>
            </a:r>
          </a:p>
        </p:txBody>
      </p:sp>
      <p:sp>
        <p:nvSpPr>
          <p:cNvPr id="3090" name="Text Box 103">
            <a:extLst>
              <a:ext uri="{FF2B5EF4-FFF2-40B4-BE49-F238E27FC236}">
                <a16:creationId xmlns:a16="http://schemas.microsoft.com/office/drawing/2014/main" id="{656B3D32-F8BD-4152-C30B-E528259794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663" y="20181888"/>
            <a:ext cx="180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ct val="20000"/>
              </a:spcBef>
              <a:buChar char="•"/>
              <a:defRPr sz="1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1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s-ES" altLang="es-CO" sz="2400">
              <a:latin typeface="Arial" panose="020B0604020202020204" pitchFamily="34" charset="0"/>
            </a:endParaRPr>
          </a:p>
        </p:txBody>
      </p:sp>
      <p:sp>
        <p:nvSpPr>
          <p:cNvPr id="3" name="Text Box 67">
            <a:extLst>
              <a:ext uri="{FF2B5EF4-FFF2-40B4-BE49-F238E27FC236}">
                <a16:creationId xmlns:a16="http://schemas.microsoft.com/office/drawing/2014/main" id="{F2CE9E2F-8A6E-67CD-E469-3B3CE23B9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2613" y="21945600"/>
            <a:ext cx="5375275" cy="771525"/>
          </a:xfrm>
          <a:prstGeom prst="rect">
            <a:avLst/>
          </a:prstGeom>
          <a:noFill/>
          <a:ln w="63500" cap="rnd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ctr" eaLnBrk="0" hangingPunct="0">
              <a:spcBef>
                <a:spcPct val="0"/>
              </a:spcBef>
              <a:defRPr sz="1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s-CO" sz="4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entury Gothic" panose="020B0502020202020204" pitchFamily="34" charset="0"/>
              </a:rPr>
              <a:t>METODOLOGÍA</a:t>
            </a:r>
          </a:p>
        </p:txBody>
      </p:sp>
      <p:sp>
        <p:nvSpPr>
          <p:cNvPr id="3094" name="7 CuadroTexto">
            <a:extLst>
              <a:ext uri="{FF2B5EF4-FFF2-40B4-BE49-F238E27FC236}">
                <a16:creationId xmlns:a16="http://schemas.microsoft.com/office/drawing/2014/main" id="{AE1E7DE8-DA5B-E9E9-B4B7-CBD0A8F497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457200"/>
            <a:ext cx="14264640" cy="4297680"/>
          </a:xfrm>
          <a:prstGeom prst="rect">
            <a:avLst/>
          </a:prstGeom>
          <a:noFill/>
          <a:ln>
            <a:noFill/>
          </a:ln>
        </p:spPr>
        <p:txBody>
          <a:bodyPr lIns="72000" tIns="72000" rIns="72000" bIns="72000" anchor="ctr" wrap="square">
            <a:spAutoFit/>
          </a:bodyPr>
          <a:lstStyle>
            <a:lvl1pPr>
              <a:spcBef>
                <a:spcPct val="20000"/>
              </a:spcBef>
              <a:buChar char="•"/>
              <a:defRPr sz="1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1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sz="6000" b="1" i="0">
                <a:solidFill>
                  <a:srgbClr val="1E2761"/>
                </a:solidFill>
                <a:latin typeface="Arial Black"/>
              </a:rPr>
              <a:t>DETECCIÓN DE FRAUDE TRANSACCIONAL</a:t>
            </a:r>
            <a:endParaRPr lang="es-CO" altLang="es-CO" sz="4000" b="1" dirty="0"/>
          </a:p>
          <a:p>
            <a:pPr algn="ctr">
              <a:spcBef>
                <a:spcPts val="200"/>
              </a:spcBef>
            </a:pPr>
            <a:r>
              <a:rPr sz="6000" b="1" i="0">
                <a:solidFill>
                  <a:srgbClr val="1E2761"/>
                </a:solidFill>
                <a:latin typeface="Arial Black"/>
              </a:rPr>
              <a:t>EN TIEMPO REAL</a:t>
            </a:r>
          </a:p>
          <a:p>
            <a:pPr algn="ctr">
              <a:spcBef>
                <a:spcPts val="1200"/>
              </a:spcBef>
            </a:pPr>
            <a:r>
              <a:rPr sz="3000" b="0" i="1">
                <a:solidFill>
                  <a:srgbClr val="3D52A0"/>
                </a:solidFill>
                <a:latin typeface="Calibri"/>
              </a:rPr>
              <a:t>con XGBoost + Optuna  ·  dataset IEEE-CIS Fraud Detection</a:t>
            </a:r>
          </a:p>
          <a:p>
            <a:pPr algn="ctr">
              <a:spcBef>
                <a:spcPts val="1600"/>
              </a:spcBef>
            </a:pPr>
            <a:r>
              <a:rPr sz="3400" b="1" i="0">
                <a:solidFill>
                  <a:srgbClr val="222233"/>
                </a:solidFill>
                <a:latin typeface="Calibri"/>
              </a:rPr>
              <a:t>Gabriela Cabrera   ·   Jessica Rivera</a:t>
            </a:r>
          </a:p>
          <a:p>
            <a:pPr algn="ctr">
              <a:spcBef>
                <a:spcPts val="1000"/>
              </a:spcBef>
            </a:pPr>
            <a:r>
              <a:rPr sz="2200" b="0" i="0">
                <a:solidFill>
                  <a:srgbClr val="555566"/>
                </a:solidFill>
                <a:latin typeface="Calibri"/>
              </a:rPr>
              <a:t>Universidad Jorge Tadeo Lozano · Facultad de Ciencias Naturales e Ingeniería</a:t>
            </a:r>
          </a:p>
          <a:p>
            <a:pPr algn="ctr">
              <a:spcBef>
                <a:spcPts val="400"/>
              </a:spcBef>
            </a:pPr>
            <a:r>
              <a:rPr sz="2200" b="0" i="0">
                <a:solidFill>
                  <a:srgbClr val="555566"/>
                </a:solidFill>
                <a:latin typeface="Calibri"/>
              </a:rPr>
              <a:t>Programa: Ingeniería de Sistemas   ·   Asignatura: Inteligencia Artificial 2026-1S</a:t>
            </a:r>
          </a:p>
          <a:p>
            <a:pPr algn="ctr">
              <a:spcBef>
                <a:spcPts val="400"/>
              </a:spcBef>
            </a:pPr>
            <a:r>
              <a:rPr sz="2200" b="0" i="1">
                <a:solidFill>
                  <a:srgbClr val="555566"/>
                </a:solidFill>
                <a:latin typeface="Calibri"/>
              </a:rPr>
              <a:t>Docente: Jorge Romero</a:t>
            </a:r>
          </a:p>
        </p:txBody>
      </p:sp>
      <p:sp>
        <p:nvSpPr>
          <p:cNvPr id="3093" name="Text Box 32">
            <a:extLst>
              <a:ext uri="{FF2B5EF4-FFF2-40B4-BE49-F238E27FC236}">
                <a16:creationId xmlns:a16="http://schemas.microsoft.com/office/drawing/2014/main" id="{D76A0315-5DA1-FEA4-C2A4-F1BF15A16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8325" y="20415250"/>
            <a:ext cx="184150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folHlink"/>
                    </a:gs>
                    <a:gs pos="100000">
                      <a:srgbClr val="FCFCFC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34925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13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119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0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8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s-CO" altLang="es-CO" sz="22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s-ES" altLang="es-CO" sz="220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2082" name="AutoShape 176">
            <a:extLst>
              <a:ext uri="{FF2B5EF4-FFF2-40B4-BE49-F238E27FC236}">
                <a16:creationId xmlns:a16="http://schemas.microsoft.com/office/drawing/2014/main" id="{2EEFC2F7-29D6-0A82-214F-EBB29A694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20142200"/>
            <a:ext cx="13609637" cy="19173825"/>
          </a:xfrm>
          <a:prstGeom prst="flowChartAlternateProcess">
            <a:avLst/>
          </a:prstGeom>
          <a:noFill/>
          <a:ln w="82550">
            <a:solidFill>
              <a:schemeClr val="accent2">
                <a:lumMod val="7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 anchorCtr="1">
            <a:spAutoFit/>
          </a:bodyPr>
          <a:lstStyle/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CO" sz="320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algn="just" defTabSz="1160463">
              <a:defRPr/>
            </a:pPr>
            <a:endParaRPr lang="es-ES" sz="320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pic>
        <p:nvPicPr>
          <p:cNvPr id="3095" name="Picture 38" descr="http://www.utadeo.edu.co/files/logoutadeo_1.jpg">
            <a:extLst>
              <a:ext uri="{FF2B5EF4-FFF2-40B4-BE49-F238E27FC236}">
                <a16:creationId xmlns:a16="http://schemas.microsoft.com/office/drawing/2014/main" id="{F05FCDA3-E19A-07D7-27C0-7D8A60C12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110" b="22517"/>
          <a:stretch>
            <a:fillRect/>
          </a:stretch>
        </p:blipFill>
        <p:spPr bwMode="auto">
          <a:xfrm>
            <a:off x="633413" y="586582"/>
            <a:ext cx="6602412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96" name="Rectángulo 4">
            <a:extLst>
              <a:ext uri="{FF2B5EF4-FFF2-40B4-BE49-F238E27FC236}">
                <a16:creationId xmlns:a16="http://schemas.microsoft.com/office/drawing/2014/main" id="{0279C5AB-D1D5-E7F3-4C5E-912AF98DB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22722840"/>
            <a:ext cx="12801600" cy="822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lIns="72000" rIns="72000" tIns="72000" bIns="72000">
            <a:spAutoFit/>
          </a:bodyPr>
          <a:lstStyle>
            <a:lvl1pPr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1pPr>
            <a:lvl2pPr marL="742950" indent="-28575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2pPr>
            <a:lvl3pPr marL="11430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3pPr>
            <a:lvl4pPr marL="16002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4pPr>
            <a:lvl5pPr marL="20574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5pPr>
            <a:lvl6pPr marL="25146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6pPr>
            <a:lvl7pPr marL="29718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7pPr>
            <a:lvl8pPr marL="34290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8pPr>
            <a:lvl9pPr marL="38862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E2761"/>
                </a:solidFill>
                <a:latin typeface="Calibri"/>
              </a:rPr>
              <a:t>Pipeline de 5 etapas</a:t>
            </a:r>
          </a:p>
        </p:txBody>
      </p:sp>
      <p:sp>
        <p:nvSpPr>
          <p:cNvPr id="3098" name="Rectángulo 8">
            <a:extLst>
              <a:ext uri="{FF2B5EF4-FFF2-40B4-BE49-F238E27FC236}">
                <a16:creationId xmlns:a16="http://schemas.microsoft.com/office/drawing/2014/main" id="{AFC04A72-B1B1-7DBA-CEF8-591C65115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25763" y="30578425"/>
            <a:ext cx="70167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lIns="72000" rIns="72000" tIns="72000" bIns="72000">
            <a:spAutoFit/>
          </a:bodyPr>
          <a:lstStyle>
            <a:lvl1pPr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1pPr>
            <a:lvl2pPr marL="742950" indent="-28575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2pPr>
            <a:lvl3pPr marL="11430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3pPr>
            <a:lvl4pPr marL="16002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4pPr>
            <a:lvl5pPr marL="20574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5pPr>
            <a:lvl6pPr marL="25146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6pPr>
            <a:lvl7pPr marL="29718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7pPr>
            <a:lvl8pPr marL="34290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8pPr>
            <a:lvl9pPr marL="38862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Aft>
                <a:spcPts val="1000"/>
              </a:spcAft>
            </a:pPr>
            <a:r>
              <a:rPr sz="2200" b="0" i="0">
                <a:solidFill>
                  <a:srgbClr val="222233"/>
                </a:solidFill>
                <a:latin typeface="Calibri"/>
              </a:rPr>
              <a:t>●  XGBoost supera al baseline en +0.21 ROC-AUC (0.76 → 0.97) y triplica la PR-AUC en una clase muy desbalanceada (~3.5% fraude).</a:t>
            </a:r>
          </a:p>
          <a:p>
            <a:pPr algn="just">
              <a:spcAft>
                <a:spcPts val="1000"/>
              </a:spcAft>
            </a:pPr>
            <a:r>
              <a:rPr sz="2200" b="0" i="0">
                <a:solidFill>
                  <a:srgbClr val="222233"/>
                </a:solidFill>
                <a:latin typeface="Calibri"/>
              </a:rPr>
              <a:t>●  Las features más predictivas combinan localización, comportamiento de sesión y matches (billing = shipping).</a:t>
            </a:r>
          </a:p>
          <a:p>
            <a:pPr algn="just">
              <a:spcAft>
                <a:spcPts val="1000"/>
              </a:spcAft>
            </a:pPr>
            <a:r>
              <a:rPr sz="2200" b="0" i="0">
                <a:solidFill>
                  <a:srgbClr val="222233"/>
                </a:solidFill>
                <a:latin typeface="Calibri"/>
              </a:rPr>
              <a:t>●  La pasarela entrega decisiones en &lt;200 ms con tres umbrales (0.30 / 0.70), habilitando uso real en pipeline de pagos.</a:t>
            </a:r>
          </a:p>
          <a:p>
            <a:pPr algn="just"/>
            <a:r>
              <a:rPr sz="2200" b="0" i="0">
                <a:solidFill>
                  <a:srgbClr val="222233"/>
                </a:solidFill>
                <a:latin typeface="Calibri"/>
              </a:rPr>
              <a:t>●  Trabajo futuro: integración de SHAP para explicabilidad por transacción y validación contra drift temporal.</a:t>
            </a:r>
          </a:p>
        </p:txBody>
      </p:sp>
      <p:sp>
        <p:nvSpPr>
          <p:cNvPr id="3099" name="Rectángulo 31">
            <a:extLst>
              <a:ext uri="{FF2B5EF4-FFF2-40B4-BE49-F238E27FC236}">
                <a16:creationId xmlns:a16="http://schemas.microsoft.com/office/drawing/2014/main" id="{171719B3-5993-8C3D-904D-EA5DB1203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3238" y="36220400"/>
            <a:ext cx="92694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 lIns="72000" rIns="72000" tIns="72000" bIns="72000">
            <a:spAutoFit/>
          </a:bodyPr>
          <a:lstStyle>
            <a:lvl1pPr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1pPr>
            <a:lvl2pPr marL="742950" indent="-28575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2pPr>
            <a:lvl3pPr marL="11430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3pPr>
            <a:lvl4pPr marL="16002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4pPr>
            <a:lvl5pPr marL="20574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5pPr>
            <a:lvl6pPr marL="25146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6pPr>
            <a:lvl7pPr marL="29718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7pPr>
            <a:lvl8pPr marL="34290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8pPr>
            <a:lvl9pPr marL="38862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9pPr>
          </a:lstStyle>
          <a:p>
            <a:pPr algn="just">
              <a:spcAft>
                <a:spcPts val="300"/>
              </a:spcAft>
            </a:pPr>
            <a:r>
              <a:rPr sz="1600" b="0" i="0">
                <a:solidFill>
                  <a:srgbClr val="222233"/>
                </a:solidFill>
                <a:latin typeface="Calibri"/>
              </a:rPr>
              <a:t>Chen, T., &amp; Guestrin, C. (2016). XGBoost: A Scalable Tree Boosting System. Proceedings of KDD'16, 785-794.</a:t>
            </a:r>
          </a:p>
          <a:p>
            <a:pPr algn="just">
              <a:spcAft>
                <a:spcPts val="300"/>
              </a:spcAft>
            </a:pPr>
            <a:r>
              <a:rPr sz="1600" b="0" i="0">
                <a:solidFill>
                  <a:srgbClr val="222233"/>
                </a:solidFill>
                <a:latin typeface="Calibri"/>
              </a:rPr>
              <a:t>Akiba, T., et al. (2019). Optuna: A Next-generation Hyperparameter Optimization Framework. KDD'19, 2623-2631.</a:t>
            </a:r>
          </a:p>
          <a:p>
            <a:pPr algn="just">
              <a:spcAft>
                <a:spcPts val="300"/>
              </a:spcAft>
            </a:pPr>
            <a:r>
              <a:rPr sz="1600" b="0" i="0">
                <a:solidFill>
                  <a:srgbClr val="222233"/>
                </a:solidFill>
                <a:latin typeface="Calibri"/>
              </a:rPr>
              <a:t>Pozzolo, A. D., et al. (2015). Calibrating Probability with Undersampling for Unbalanced Classification. IEEE SSCI, 159-166.</a:t>
            </a:r>
          </a:p>
          <a:p>
            <a:pPr algn="just">
              <a:spcAft>
                <a:spcPts val="300"/>
              </a:spcAft>
            </a:pPr>
            <a:r>
              <a:rPr sz="1600" b="0" i="0">
                <a:solidFill>
                  <a:srgbClr val="222233"/>
                </a:solidFill>
                <a:latin typeface="Calibri"/>
              </a:rPr>
              <a:t>Bahnsen, A. C., et al. (2014). Example-Dependent Cost-Sensitive Decision Trees. Expert Systems with Applications, 42(19), 6609-6619.</a:t>
            </a:r>
          </a:p>
          <a:p>
            <a:pPr algn="just">
              <a:spcAft>
                <a:spcPts val="300"/>
              </a:spcAft>
            </a:pPr>
            <a:r>
              <a:rPr sz="1600" b="0" i="0">
                <a:solidFill>
                  <a:srgbClr val="222233"/>
                </a:solidFill>
                <a:latin typeface="Calibri"/>
              </a:rPr>
              <a:t>Carcillo, F., et al. (2021). Combining unsupervised and supervised learning in credit card fraud detection. Information Sciences, 557, 317-331.</a:t>
            </a:r>
          </a:p>
          <a:p>
            <a:pPr algn="just"/>
            <a:r>
              <a:rPr sz="1600" b="0" i="0">
                <a:solidFill>
                  <a:srgbClr val="222233"/>
                </a:solidFill>
                <a:latin typeface="Calibri"/>
              </a:rPr>
              <a:t>IEEE-CIS Fraud Detection (2019). Kaggle Competition Dataset. https://www.kaggle.com/c/ieee-fraud-detection</a:t>
            </a:r>
          </a:p>
        </p:txBody>
      </p:sp>
      <p:sp>
        <p:nvSpPr>
          <p:cNvPr id="3100" name="Rectángulo 32">
            <a:extLst>
              <a:ext uri="{FF2B5EF4-FFF2-40B4-BE49-F238E27FC236}">
                <a16:creationId xmlns:a16="http://schemas.microsoft.com/office/drawing/2014/main" id="{4282A7A3-0B86-535A-8AD3-B1F24DD06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1422320"/>
            <a:ext cx="27889200" cy="1463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lIns="72000" rIns="72000" tIns="72000" bIns="72000">
            <a:spAutoFit/>
          </a:bodyPr>
          <a:lstStyle>
            <a:lvl1pPr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1pPr>
            <a:lvl2pPr marL="742950" indent="-28575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2pPr>
            <a:lvl3pPr marL="11430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3pPr>
            <a:lvl4pPr marL="16002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4pPr>
            <a:lvl5pPr marL="2057400" indent="-228600" defTabSz="1160463"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5pPr>
            <a:lvl6pPr marL="25146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6pPr>
            <a:lvl7pPr marL="29718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7pPr>
            <a:lvl8pPr marL="34290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8pPr>
            <a:lvl9pPr marL="3886200" indent="-228600" defTabSz="1160463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rgbClr val="000000"/>
                </a:solidFill>
                <a:latin typeface="Verdana" panose="020B0604030504040204" pitchFamily="34" charset="0"/>
              </a:defRPr>
            </a:lvl9pPr>
          </a:lstStyle>
          <a:p>
            <a:pPr algn="ctr"/>
            <a:r>
              <a:rPr sz="1800" b="0" i="1">
                <a:solidFill>
                  <a:srgbClr val="222233"/>
                </a:solidFill>
                <a:latin typeface="Calibri"/>
              </a:rPr>
              <a:t>Agradecemos al profesor Jorge Romero por la guía técnica durante el desarrollo del proyecto y a la Universidad Jorge Tadeo Lozano por el espacio y los recursos académicos. Asimismo, agradecemos a IEEE-CIS y a la comunidad de Kaggle por la disponibilidad pública del dataset.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3946C5-2FFD-4768-8C5D-17E064152C1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320"/>
          <a:stretch/>
        </p:blipFill>
        <p:spPr>
          <a:xfrm>
            <a:off x="21661438" y="589221"/>
            <a:ext cx="10223500" cy="32591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101" name="Rounded Rectangle 3100"/>
          <p:cNvSpPr/>
          <p:nvPr/>
        </p:nvSpPr>
        <p:spPr>
          <a:xfrm>
            <a:off x="822960" y="23682960"/>
            <a:ext cx="12801600" cy="2240280"/>
          </a:xfrm>
          <a:prstGeom prst="round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2" name="Oval 3101"/>
          <p:cNvSpPr/>
          <p:nvPr/>
        </p:nvSpPr>
        <p:spPr>
          <a:xfrm>
            <a:off x="1143000" y="24094440"/>
            <a:ext cx="1554480" cy="1554480"/>
          </a:xfrm>
          <a:prstGeom prst="ellipse">
            <a:avLst/>
          </a:prstGeom>
          <a:solidFill>
            <a:srgbClr val="3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3103" name="TextBox 3102"/>
          <p:cNvSpPr txBox="1"/>
          <p:nvPr/>
        </p:nvSpPr>
        <p:spPr>
          <a:xfrm>
            <a:off x="3063240" y="24140160"/>
            <a:ext cx="10241280" cy="82296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Datos</a:t>
            </a:r>
          </a:p>
        </p:txBody>
      </p:sp>
      <p:sp>
        <p:nvSpPr>
          <p:cNvPr id="3104" name="TextBox 3103"/>
          <p:cNvSpPr txBox="1"/>
          <p:nvPr/>
        </p:nvSpPr>
        <p:spPr>
          <a:xfrm>
            <a:off x="3063240" y="24917400"/>
            <a:ext cx="10241280" cy="96012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2000" b="0" i="0">
                <a:solidFill>
                  <a:srgbClr val="222233"/>
                </a:solidFill>
                <a:latin typeface="Calibri"/>
              </a:rPr>
              <a:t>IEEE-CIS Fraud Detection (Kaggle)
~590.000 transacciones · 3.5% fraude</a:t>
            </a:r>
          </a:p>
        </p:txBody>
      </p:sp>
      <p:sp>
        <p:nvSpPr>
          <p:cNvPr id="3105" name="Rounded Rectangle 3104"/>
          <p:cNvSpPr/>
          <p:nvPr/>
        </p:nvSpPr>
        <p:spPr>
          <a:xfrm>
            <a:off x="822960" y="26179272"/>
            <a:ext cx="12801600" cy="2240280"/>
          </a:xfrm>
          <a:prstGeom prst="round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6" name="Oval 3105"/>
          <p:cNvSpPr/>
          <p:nvPr/>
        </p:nvSpPr>
        <p:spPr>
          <a:xfrm>
            <a:off x="1143000" y="26590752"/>
            <a:ext cx="1554480" cy="1554480"/>
          </a:xfrm>
          <a:prstGeom prst="ellipse">
            <a:avLst/>
          </a:prstGeom>
          <a:solidFill>
            <a:srgbClr val="3D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3107" name="TextBox 3106"/>
          <p:cNvSpPr txBox="1"/>
          <p:nvPr/>
        </p:nvSpPr>
        <p:spPr>
          <a:xfrm>
            <a:off x="3063240" y="26636472"/>
            <a:ext cx="10241280" cy="82296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Partición temporal</a:t>
            </a:r>
          </a:p>
        </p:txBody>
      </p:sp>
      <p:sp>
        <p:nvSpPr>
          <p:cNvPr id="3108" name="TextBox 3107"/>
          <p:cNvSpPr txBox="1"/>
          <p:nvPr/>
        </p:nvSpPr>
        <p:spPr>
          <a:xfrm>
            <a:off x="3063240" y="27413712"/>
            <a:ext cx="10241280" cy="96012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2000" b="0" i="0">
                <a:solidFill>
                  <a:srgbClr val="222233"/>
                </a:solidFill>
                <a:latin typeface="Calibri"/>
              </a:rPr>
              <a:t>70 / 15 / 15 sin shuffle
evita data leakage</a:t>
            </a:r>
          </a:p>
        </p:txBody>
      </p:sp>
      <p:sp>
        <p:nvSpPr>
          <p:cNvPr id="3109" name="Rounded Rectangle 3108"/>
          <p:cNvSpPr/>
          <p:nvPr/>
        </p:nvSpPr>
        <p:spPr>
          <a:xfrm>
            <a:off x="822960" y="28675584"/>
            <a:ext cx="12801600" cy="2240280"/>
          </a:xfrm>
          <a:prstGeom prst="round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0" name="Oval 3109"/>
          <p:cNvSpPr/>
          <p:nvPr/>
        </p:nvSpPr>
        <p:spPr>
          <a:xfrm>
            <a:off x="1143000" y="29087064"/>
            <a:ext cx="1554480" cy="155448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3111" name="TextBox 3110"/>
          <p:cNvSpPr txBox="1"/>
          <p:nvPr/>
        </p:nvSpPr>
        <p:spPr>
          <a:xfrm>
            <a:off x="3063240" y="29132784"/>
            <a:ext cx="10241280" cy="82296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Baseline</a:t>
            </a:r>
          </a:p>
        </p:txBody>
      </p:sp>
      <p:sp>
        <p:nvSpPr>
          <p:cNvPr id="3112" name="TextBox 3111"/>
          <p:cNvSpPr txBox="1"/>
          <p:nvPr/>
        </p:nvSpPr>
        <p:spPr>
          <a:xfrm>
            <a:off x="3063240" y="29910024"/>
            <a:ext cx="10241280" cy="96012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2000" b="0" i="0">
                <a:solidFill>
                  <a:srgbClr val="222233"/>
                </a:solidFill>
                <a:latin typeface="Calibri"/>
              </a:rPr>
              <a:t>Regresión Logística
balanced class weight</a:t>
            </a:r>
          </a:p>
        </p:txBody>
      </p:sp>
      <p:sp>
        <p:nvSpPr>
          <p:cNvPr id="3113" name="Rounded Rectangle 3112"/>
          <p:cNvSpPr/>
          <p:nvPr/>
        </p:nvSpPr>
        <p:spPr>
          <a:xfrm>
            <a:off x="822960" y="31171896"/>
            <a:ext cx="12801600" cy="2240280"/>
          </a:xfrm>
          <a:prstGeom prst="round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4" name="Oval 3113"/>
          <p:cNvSpPr/>
          <p:nvPr/>
        </p:nvSpPr>
        <p:spPr>
          <a:xfrm>
            <a:off x="1143000" y="31583376"/>
            <a:ext cx="1554480" cy="15544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3115" name="TextBox 3114"/>
          <p:cNvSpPr txBox="1"/>
          <p:nvPr/>
        </p:nvSpPr>
        <p:spPr>
          <a:xfrm>
            <a:off x="3063240" y="31629096"/>
            <a:ext cx="10241280" cy="82296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Modelo final</a:t>
            </a:r>
          </a:p>
        </p:txBody>
      </p:sp>
      <p:sp>
        <p:nvSpPr>
          <p:cNvPr id="3116" name="TextBox 3115"/>
          <p:cNvSpPr txBox="1"/>
          <p:nvPr/>
        </p:nvSpPr>
        <p:spPr>
          <a:xfrm>
            <a:off x="3063240" y="32406336"/>
            <a:ext cx="10241280" cy="96012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2000" b="0" i="0">
                <a:solidFill>
                  <a:srgbClr val="222233"/>
                </a:solidFill>
                <a:latin typeface="Calibri"/>
              </a:rPr>
              <a:t>XGBoost + Optuna
50 trials · optimiza PR-AUC</a:t>
            </a:r>
          </a:p>
        </p:txBody>
      </p:sp>
      <p:sp>
        <p:nvSpPr>
          <p:cNvPr id="3117" name="Rounded Rectangle 3116"/>
          <p:cNvSpPr/>
          <p:nvPr/>
        </p:nvSpPr>
        <p:spPr>
          <a:xfrm>
            <a:off x="822960" y="33668208"/>
            <a:ext cx="12801600" cy="2240280"/>
          </a:xfrm>
          <a:prstGeom prst="roundRect">
            <a:avLst/>
          </a:prstGeom>
          <a:solidFill>
            <a:srgbClr val="EF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8" name="Oval 3117"/>
          <p:cNvSpPr/>
          <p:nvPr/>
        </p:nvSpPr>
        <p:spPr>
          <a:xfrm>
            <a:off x="1143000" y="34079688"/>
            <a:ext cx="1554480" cy="1554480"/>
          </a:xfrm>
          <a:prstGeom prst="ellipse">
            <a:avLst/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56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3119" name="TextBox 3118"/>
          <p:cNvSpPr txBox="1"/>
          <p:nvPr/>
        </p:nvSpPr>
        <p:spPr>
          <a:xfrm>
            <a:off x="3063240" y="34125408"/>
            <a:ext cx="10241280" cy="82296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Calibri"/>
              </a:rPr>
              <a:t>Demo</a:t>
            </a:r>
          </a:p>
        </p:txBody>
      </p:sp>
      <p:sp>
        <p:nvSpPr>
          <p:cNvPr id="3120" name="TextBox 3119"/>
          <p:cNvSpPr txBox="1"/>
          <p:nvPr/>
        </p:nvSpPr>
        <p:spPr>
          <a:xfrm>
            <a:off x="3063240" y="34902648"/>
            <a:ext cx="10241280" cy="96012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2000" b="0" i="0">
                <a:solidFill>
                  <a:srgbClr val="222233"/>
                </a:solidFill>
                <a:latin typeface="Calibri"/>
              </a:rPr>
              <a:t>Gradio · 4 acordeones
latencia &lt;200 ms</a:t>
            </a:r>
          </a:p>
        </p:txBody>
      </p:sp>
      <p:sp>
        <p:nvSpPr>
          <p:cNvPr id="3121" name="Rounded Rectangle 3120"/>
          <p:cNvSpPr/>
          <p:nvPr/>
        </p:nvSpPr>
        <p:spPr>
          <a:xfrm>
            <a:off x="822960" y="36347400"/>
            <a:ext cx="12801600" cy="2286000"/>
          </a:xfrm>
          <a:prstGeom prst="roundRect">
            <a:avLst/>
          </a:prstGeom>
          <a:solidFill>
            <a:srgbClr val="141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2" name="TextBox 3121"/>
          <p:cNvSpPr txBox="1"/>
          <p:nvPr/>
        </p:nvSpPr>
        <p:spPr>
          <a:xfrm>
            <a:off x="1188720" y="36530280"/>
            <a:ext cx="12070080" cy="64008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⚙  HIPERPARÁMETROS ÓPTIMOS (Optuna)</a:t>
            </a:r>
          </a:p>
        </p:txBody>
      </p:sp>
      <p:sp>
        <p:nvSpPr>
          <p:cNvPr id="3123" name="TextBox 3122"/>
          <p:cNvSpPr txBox="1"/>
          <p:nvPr/>
        </p:nvSpPr>
        <p:spPr>
          <a:xfrm>
            <a:off x="1188720" y="37216080"/>
            <a:ext cx="12070080" cy="137160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onsolas"/>
              </a:rPr>
              <a:t>max_depth = 7      ·      learning_rate = 0.082      ·      n_estimators = 220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onsolas"/>
              </a:rPr>
              <a:t>subsample = 0.85      ·      colsample_bytree = 0.78</a:t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Consolas"/>
              </a:rPr>
              <a:t>scale_pos_weight = 12.4      ·      reg_alpha = 0.034      ·      reg_lambda = 1.27</a:t>
            </a:r>
          </a:p>
        </p:txBody>
      </p:sp>
      <p:sp>
        <p:nvSpPr>
          <p:cNvPr id="3124" name="Rounded Rectangle 3123"/>
          <p:cNvSpPr/>
          <p:nvPr/>
        </p:nvSpPr>
        <p:spPr>
          <a:xfrm>
            <a:off x="15233904" y="7178040"/>
            <a:ext cx="3831335" cy="32918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5" name="TextBox 3124"/>
          <p:cNvSpPr txBox="1"/>
          <p:nvPr/>
        </p:nvSpPr>
        <p:spPr>
          <a:xfrm>
            <a:off x="15233904" y="7543800"/>
            <a:ext cx="3831335" cy="164592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0.973</a:t>
            </a:r>
          </a:p>
        </p:txBody>
      </p:sp>
      <p:sp>
        <p:nvSpPr>
          <p:cNvPr id="3126" name="TextBox 3125"/>
          <p:cNvSpPr txBox="1"/>
          <p:nvPr/>
        </p:nvSpPr>
        <p:spPr>
          <a:xfrm>
            <a:off x="15233904" y="9189720"/>
            <a:ext cx="3831335" cy="54864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3127" name="TextBox 3126"/>
          <p:cNvSpPr txBox="1"/>
          <p:nvPr/>
        </p:nvSpPr>
        <p:spPr>
          <a:xfrm>
            <a:off x="15233904" y="9738360"/>
            <a:ext cx="3831335" cy="54864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modelo final</a:t>
            </a:r>
          </a:p>
        </p:txBody>
      </p:sp>
      <p:sp>
        <p:nvSpPr>
          <p:cNvPr id="3128" name="Rounded Rectangle 3127"/>
          <p:cNvSpPr/>
          <p:nvPr/>
        </p:nvSpPr>
        <p:spPr>
          <a:xfrm>
            <a:off x="19293840" y="7178040"/>
            <a:ext cx="3831335" cy="3291840"/>
          </a:xfrm>
          <a:prstGeom prst="roundRect">
            <a:avLst/>
          </a:prstGeom>
          <a:solidFill>
            <a:srgbClr val="06A7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9" name="TextBox 3128"/>
          <p:cNvSpPr txBox="1"/>
          <p:nvPr/>
        </p:nvSpPr>
        <p:spPr>
          <a:xfrm>
            <a:off x="19293840" y="7543800"/>
            <a:ext cx="3831335" cy="164592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+0.21</a:t>
            </a:r>
          </a:p>
        </p:txBody>
      </p:sp>
      <p:sp>
        <p:nvSpPr>
          <p:cNvPr id="3130" name="TextBox 3129"/>
          <p:cNvSpPr txBox="1"/>
          <p:nvPr/>
        </p:nvSpPr>
        <p:spPr>
          <a:xfrm>
            <a:off x="19293840" y="9189720"/>
            <a:ext cx="3831335" cy="54864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vs Baseline</a:t>
            </a:r>
          </a:p>
        </p:txBody>
      </p:sp>
      <p:sp>
        <p:nvSpPr>
          <p:cNvPr id="3131" name="TextBox 3130"/>
          <p:cNvSpPr txBox="1"/>
          <p:nvPr/>
        </p:nvSpPr>
        <p:spPr>
          <a:xfrm>
            <a:off x="19293840" y="9738360"/>
            <a:ext cx="3831335" cy="54864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ROC-AUC</a:t>
            </a:r>
          </a:p>
        </p:txBody>
      </p:sp>
      <p:sp>
        <p:nvSpPr>
          <p:cNvPr id="3132" name="Rounded Rectangle 3131"/>
          <p:cNvSpPr/>
          <p:nvPr/>
        </p:nvSpPr>
        <p:spPr>
          <a:xfrm>
            <a:off x="23353776" y="7178040"/>
            <a:ext cx="3831335" cy="3291840"/>
          </a:xfrm>
          <a:prstGeom prst="roundRect">
            <a:avLst/>
          </a:prstGeom>
          <a:solidFill>
            <a:srgbClr val="3D52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3" name="TextBox 3132"/>
          <p:cNvSpPr txBox="1"/>
          <p:nvPr/>
        </p:nvSpPr>
        <p:spPr>
          <a:xfrm>
            <a:off x="23353776" y="7543800"/>
            <a:ext cx="3831335" cy="164592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180ms</a:t>
            </a:r>
          </a:p>
        </p:txBody>
      </p:sp>
      <p:sp>
        <p:nvSpPr>
          <p:cNvPr id="3134" name="TextBox 3133"/>
          <p:cNvSpPr txBox="1"/>
          <p:nvPr/>
        </p:nvSpPr>
        <p:spPr>
          <a:xfrm>
            <a:off x="23353776" y="9189720"/>
            <a:ext cx="3831335" cy="54864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Latencia</a:t>
            </a:r>
          </a:p>
        </p:txBody>
      </p:sp>
      <p:sp>
        <p:nvSpPr>
          <p:cNvPr id="3135" name="TextBox 3134"/>
          <p:cNvSpPr txBox="1"/>
          <p:nvPr/>
        </p:nvSpPr>
        <p:spPr>
          <a:xfrm>
            <a:off x="23353776" y="9738360"/>
            <a:ext cx="3831335" cy="54864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por transacción</a:t>
            </a:r>
          </a:p>
        </p:txBody>
      </p:sp>
      <p:sp>
        <p:nvSpPr>
          <p:cNvPr id="3136" name="Rounded Rectangle 3135"/>
          <p:cNvSpPr/>
          <p:nvPr/>
        </p:nvSpPr>
        <p:spPr>
          <a:xfrm>
            <a:off x="27413711" y="7178040"/>
            <a:ext cx="3831335" cy="3291840"/>
          </a:xfrm>
          <a:prstGeom prst="roundRect">
            <a:avLst/>
          </a:prstGeom>
          <a:solidFill>
            <a:srgbClr val="F77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7" name="TextBox 3136"/>
          <p:cNvSpPr txBox="1"/>
          <p:nvPr/>
        </p:nvSpPr>
        <p:spPr>
          <a:xfrm>
            <a:off x="27413711" y="7543800"/>
            <a:ext cx="3831335" cy="164592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rial Black"/>
              </a:rPr>
              <a:t>17</a:t>
            </a:r>
          </a:p>
        </p:txBody>
      </p:sp>
      <p:sp>
        <p:nvSpPr>
          <p:cNvPr id="3138" name="TextBox 3137"/>
          <p:cNvSpPr txBox="1"/>
          <p:nvPr/>
        </p:nvSpPr>
        <p:spPr>
          <a:xfrm>
            <a:off x="27413711" y="9189720"/>
            <a:ext cx="3831335" cy="54864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Features</a:t>
            </a:r>
          </a:p>
        </p:txBody>
      </p:sp>
      <p:sp>
        <p:nvSpPr>
          <p:cNvPr id="3139" name="TextBox 3138"/>
          <p:cNvSpPr txBox="1"/>
          <p:nvPr/>
        </p:nvSpPr>
        <p:spPr>
          <a:xfrm>
            <a:off x="27413711" y="9738360"/>
            <a:ext cx="3831335" cy="54864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  <a:latin typeface="Calibri"/>
              </a:rPr>
              <a:t>tipo IEEE-CIS</a:t>
            </a:r>
          </a:p>
        </p:txBody>
      </p:sp>
      <p:sp>
        <p:nvSpPr>
          <p:cNvPr id="3140" name="TextBox 3139"/>
          <p:cNvSpPr txBox="1"/>
          <p:nvPr/>
        </p:nvSpPr>
        <p:spPr>
          <a:xfrm>
            <a:off x="15233904" y="10927080"/>
            <a:ext cx="16011143" cy="73152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3200" b="1" i="0">
                <a:solidFill>
                  <a:srgbClr val="1E2761"/>
                </a:solidFill>
                <a:latin typeface="Calibri"/>
              </a:rPr>
              <a:t>Comparativa baseline vs modelo final</a:t>
            </a:r>
          </a:p>
        </p:txBody>
      </p:sp>
      <p:sp>
        <p:nvSpPr>
          <p:cNvPr id="3141" name="TextBox 3140"/>
          <p:cNvSpPr txBox="1"/>
          <p:nvPr/>
        </p:nvSpPr>
        <p:spPr>
          <a:xfrm>
            <a:off x="15233904" y="11750040"/>
            <a:ext cx="16011143" cy="45720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1800" b="0" i="1">
                <a:solidFill>
                  <a:srgbClr val="555566"/>
                </a:solidFill>
                <a:latin typeface="Calibri"/>
              </a:rPr>
              <a:t>sobre conjunto de test (~88.500 tx, partición temporal sin shuffle)</a:t>
            </a:r>
          </a:p>
        </p:txBody>
      </p:sp>
      <p:graphicFrame>
        <p:nvGraphicFramePr>
          <p:cNvPr id="3142" name="Table 3141"/>
          <p:cNvGraphicFramePr>
            <a:graphicFrameLocks noGrp="1"/>
          </p:cNvGraphicFramePr>
          <p:nvPr/>
        </p:nvGraphicFramePr>
        <p:xfrm>
          <a:off x="15416784" y="12481560"/>
          <a:ext cx="1564538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7564"/>
                <a:gridCol w="2607564"/>
                <a:gridCol w="2607564"/>
                <a:gridCol w="2607564"/>
                <a:gridCol w="2607564"/>
                <a:gridCol w="2607564"/>
              </a:tblGrid>
              <a:tr h="944880">
                <a:tc>
                  <a:txBody>
                    <a:bodyPr/>
                    <a:lstStyle/>
                    <a:p>
                      <a:pPr algn="ctr"/>
                      <a:r>
                        <a:rPr b="1" sz="2600">
                          <a:solidFill>
                            <a:srgbClr val="FFFFFF"/>
                          </a:solidFill>
                          <a:latin typeface="Calibri"/>
                        </a:rPr>
                        <a:t>Modelo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60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600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60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60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60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9448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222233"/>
                          </a:solidFill>
                          <a:latin typeface="Calibri"/>
                        </a:rPr>
                        <a:t>Baseline (Reg. Logística)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22233"/>
                          </a:solidFill>
                          <a:latin typeface="Calibri"/>
                        </a:rPr>
                        <a:t>0.763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22233"/>
                          </a:solidFill>
                          <a:latin typeface="Calibri"/>
                        </a:rPr>
                        <a:t>0.182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22233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22233"/>
                          </a:solidFill>
                          <a:latin typeface="Calibri"/>
                        </a:rPr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222233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 anchor="ctr"/>
                </a:tc>
              </a:tr>
              <a:tr h="94488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222233"/>
                          </a:solidFill>
                          <a:latin typeface="Calibri"/>
                        </a:rPr>
                        <a:t>XGBoost + Optuna (final)</a:t>
                      </a:r>
                    </a:p>
                  </a:txBody>
                  <a:tcPr anchor="ctr">
                    <a:solidFill>
                      <a:srgbClr val="D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233"/>
                          </a:solidFill>
                          <a:latin typeface="Calibri"/>
                        </a:rPr>
                        <a:t>0.973</a:t>
                      </a:r>
                    </a:p>
                  </a:txBody>
                  <a:tcPr anchor="ctr">
                    <a:solidFill>
                      <a:srgbClr val="D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233"/>
                          </a:solidFill>
                          <a:latin typeface="Calibri"/>
                        </a:rPr>
                        <a:t>0.612</a:t>
                      </a:r>
                    </a:p>
                  </a:txBody>
                  <a:tcPr anchor="ctr">
                    <a:solidFill>
                      <a:srgbClr val="D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233"/>
                          </a:solidFill>
                          <a:latin typeface="Calibri"/>
                        </a:rPr>
                        <a:t>0.85</a:t>
                      </a:r>
                    </a:p>
                  </a:txBody>
                  <a:tcPr anchor="ctr">
                    <a:solidFill>
                      <a:srgbClr val="D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233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 anchor="ctr">
                    <a:solidFill>
                      <a:srgbClr val="D8DD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222233"/>
                          </a:solidFill>
                          <a:latin typeface="Calibri"/>
                        </a:rPr>
                        <a:t>0.56</a:t>
                      </a:r>
                    </a:p>
                  </a:txBody>
                  <a:tcPr anchor="ctr">
                    <a:solidFill>
                      <a:srgbClr val="D8DDEE"/>
                    </a:solidFill>
                  </a:tcPr>
                </a:tc>
              </a:tr>
            </a:tbl>
          </a:graphicData>
        </a:graphic>
      </p:graphicFrame>
      <p:sp>
        <p:nvSpPr>
          <p:cNvPr id="3143" name="TextBox 3142"/>
          <p:cNvSpPr txBox="1"/>
          <p:nvPr/>
        </p:nvSpPr>
        <p:spPr>
          <a:xfrm>
            <a:off x="15233904" y="15590520"/>
            <a:ext cx="16011143" cy="548640"/>
          </a:xfrm>
          <a:prstGeom prst="rect">
            <a:avLst/>
          </a:prstGeom>
          <a:noFill/>
        </p:spPr>
        <p:txBody>
          <a:bodyPr wrap="square" anchor="ctr" lIns="72000" rIns="72000" tIns="72000" bIns="72000">
            <a:spAutoFit/>
          </a:bodyPr>
          <a:lstStyle/>
          <a:p>
            <a:pPr algn="ctr"/>
            <a:r>
              <a:rPr sz="2800" b="1" i="0">
                <a:solidFill>
                  <a:srgbClr val="1E2761"/>
                </a:solidFill>
                <a:latin typeface="Calibri"/>
              </a:rPr>
              <a:t>Visualización de resultados</a:t>
            </a:r>
          </a:p>
        </p:txBody>
      </p:sp>
      <p:pic>
        <p:nvPicPr>
          <p:cNvPr id="3144" name="Picture 3143" descr="fig_roc_comparativa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416784" y="16413480"/>
            <a:ext cx="7548371" cy="6023448"/>
          </a:xfrm>
          <a:prstGeom prst="rect">
            <a:avLst/>
          </a:prstGeom>
        </p:spPr>
      </p:pic>
      <p:pic>
        <p:nvPicPr>
          <p:cNvPr id="3145" name="Picture 3144" descr="fig_feature_importanc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513796" y="16413480"/>
            <a:ext cx="7548371" cy="6028795"/>
          </a:xfrm>
          <a:prstGeom prst="rect">
            <a:avLst/>
          </a:prstGeom>
        </p:spPr>
      </p:pic>
      <p:sp>
        <p:nvSpPr>
          <p:cNvPr id="3146" name="TextBox 3145"/>
          <p:cNvSpPr txBox="1"/>
          <p:nvPr/>
        </p:nvSpPr>
        <p:spPr>
          <a:xfrm>
            <a:off x="15416784" y="22603145"/>
            <a:ext cx="7548371" cy="36576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ctr"/>
            <a:r>
              <a:rPr sz="1800" b="0" i="1">
                <a:solidFill>
                  <a:srgbClr val="555566"/>
                </a:solidFill>
                <a:latin typeface="Calibri"/>
              </a:rPr>
              <a:t>Fig. 1 — Curvas ROC en test</a:t>
            </a:r>
          </a:p>
        </p:txBody>
      </p:sp>
      <p:sp>
        <p:nvSpPr>
          <p:cNvPr id="3147" name="TextBox 3146"/>
          <p:cNvSpPr txBox="1"/>
          <p:nvPr/>
        </p:nvSpPr>
        <p:spPr>
          <a:xfrm>
            <a:off x="23513796" y="22603145"/>
            <a:ext cx="7548371" cy="365760"/>
          </a:xfrm>
          <a:prstGeom prst="rect">
            <a:avLst/>
          </a:prstGeom>
          <a:noFill/>
        </p:spPr>
        <p:txBody>
          <a:bodyPr wrap="square" anchor="t" lIns="72000" rIns="72000" tIns="72000" bIns="72000">
            <a:spAutoFit/>
          </a:bodyPr>
          <a:lstStyle/>
          <a:p>
            <a:pPr algn="ctr"/>
            <a:r>
              <a:rPr sz="1800" b="0" i="1">
                <a:solidFill>
                  <a:srgbClr val="555566"/>
                </a:solidFill>
                <a:latin typeface="Calibri"/>
              </a:rPr>
              <a:t>Fig. 2 — Top-10 features por gain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0" cap="flat" cmpd="sng" algn="ctr">
          <a:solidFill>
            <a:schemeClr val="tx1"/>
          </a:solidFill>
          <a:prstDash val="solid"/>
          <a:round/>
          <a:headEnd type="none" w="med" len="med"/>
          <a:tailEnd type="stealth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0" cap="flat" cmpd="sng" algn="ctr">
          <a:solidFill>
            <a:schemeClr val="tx1"/>
          </a:solidFill>
          <a:prstDash val="solid"/>
          <a:round/>
          <a:headEnd type="none" w="med" len="med"/>
          <a:tailEnd type="stealth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2242</TotalTime>
  <Words>101</Words>
  <Application>Microsoft Office PowerPoint</Application>
  <PresentationFormat>Personalizado</PresentationFormat>
  <Paragraphs>115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Century Gothic</vt:lpstr>
      <vt:lpstr>Garamond</vt:lpstr>
      <vt:lpstr>Times New Roman</vt:lpstr>
      <vt:lpstr>Verdana</vt:lpstr>
      <vt:lpstr>Default Design</vt:lpstr>
      <vt:lpstr>Presentación de PowerPoint</vt:lpstr>
    </vt:vector>
  </TitlesOfParts>
  <Company>familia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 título de diapositiva</dc:title>
  <dc:creator>usuario</dc:creator>
  <cp:lastModifiedBy>Vivian Carolina Puyo Penagos</cp:lastModifiedBy>
  <cp:revision>127</cp:revision>
  <cp:lastPrinted>2000-10-06T11:16:17Z</cp:lastPrinted>
  <dcterms:created xsi:type="dcterms:W3CDTF">2006-04-27T02:25:17Z</dcterms:created>
  <dcterms:modified xsi:type="dcterms:W3CDTF">2025-10-24T19:31:36Z</dcterms:modified>
</cp:coreProperties>
</file>